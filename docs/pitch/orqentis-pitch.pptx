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91695" cy="1737360"/>
          </a:xfrm>
          <a:prstGeom prst="rect">
            <a:avLst/>
          </a:prstGeom>
          <a:solidFill>
            <a:srgbClr val="071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286000"/>
            <a:ext cx="109728" cy="237744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914400"/>
            <a:ext cx="5486400" cy="457200"/>
          </a:xfrm>
          <a:prstGeom prst="rect">
            <a:avLst/>
          </a:prstGeom>
          <a:noFill/>
        </p:spPr>
        <p:txBody>
          <a:bodyPr wrap="square" lIns="0" rIns="0" tIns="0" bIns="0" anchor="t">
            <a:spAutoFit/>
          </a:bodyPr>
          <a:lstStyle/>
          <a:p>
            <a:pPr algn="l"/>
            <a:r>
              <a:rPr sz="1400" b="1">
                <a:solidFill>
                  <a:srgbClr val="1177D1"/>
                </a:solidFill>
                <a:latin typeface="Segoe UI Semibold"/>
              </a:rPr>
              <a:t>ORQENTIS</a:t>
            </a:r>
          </a:p>
        </p:txBody>
      </p:sp>
      <p:sp>
        <p:nvSpPr>
          <p:cNvPr id="6" name="TextBox 5"/>
          <p:cNvSpPr txBox="1"/>
          <p:nvPr/>
        </p:nvSpPr>
        <p:spPr>
          <a:xfrm>
            <a:off x="868680" y="2148840"/>
            <a:ext cx="10058400" cy="1280160"/>
          </a:xfrm>
          <a:prstGeom prst="rect">
            <a:avLst/>
          </a:prstGeom>
          <a:noFill/>
        </p:spPr>
        <p:txBody>
          <a:bodyPr wrap="square" lIns="0" rIns="0" tIns="0" bIns="0" anchor="t">
            <a:spAutoFit/>
          </a:bodyPr>
          <a:lstStyle/>
          <a:p>
            <a:pPr algn="l"/>
            <a:r>
              <a:rPr sz="5400" b="1">
                <a:solidFill>
                  <a:srgbClr val="FFFFFF"/>
                </a:solidFill>
                <a:latin typeface="Segoe UI"/>
              </a:rPr>
              <a:t>Data contracts, enforced.</a:t>
            </a:r>
          </a:p>
        </p:txBody>
      </p:sp>
      <p:sp>
        <p:nvSpPr>
          <p:cNvPr id="7" name="TextBox 6"/>
          <p:cNvSpPr txBox="1"/>
          <p:nvPr/>
        </p:nvSpPr>
        <p:spPr>
          <a:xfrm>
            <a:off x="868680" y="3246120"/>
            <a:ext cx="10058400" cy="1280160"/>
          </a:xfrm>
          <a:prstGeom prst="rect">
            <a:avLst/>
          </a:prstGeom>
          <a:noFill/>
        </p:spPr>
        <p:txBody>
          <a:bodyPr wrap="square" lIns="0" rIns="0" tIns="0" bIns="0" anchor="t">
            <a:spAutoFit/>
          </a:bodyPr>
          <a:lstStyle/>
          <a:p>
            <a:pPr algn="l"/>
            <a:r>
              <a:rPr sz="2200" b="0">
                <a:solidFill>
                  <a:srgbClr val="C6D4E6"/>
                </a:solidFill>
                <a:latin typeface="Segoe UI"/>
              </a:rPr>
              <a:t>The Microsoft Fabric–native control plane for ODCS v3.1.0.</a:t>
            </a:r>
          </a:p>
        </p:txBody>
      </p:sp>
      <p:sp>
        <p:nvSpPr>
          <p:cNvPr id="8" name="TextBox 7"/>
          <p:cNvSpPr txBox="1"/>
          <p:nvPr/>
        </p:nvSpPr>
        <p:spPr>
          <a:xfrm>
            <a:off x="868680" y="4160520"/>
            <a:ext cx="10058400" cy="457200"/>
          </a:xfrm>
          <a:prstGeom prst="rect">
            <a:avLst/>
          </a:prstGeom>
          <a:noFill/>
        </p:spPr>
        <p:txBody>
          <a:bodyPr wrap="square" lIns="0" rIns="0" tIns="0" bIns="0" anchor="t">
            <a:spAutoFit/>
          </a:bodyPr>
          <a:lstStyle/>
          <a:p>
            <a:pPr algn="l"/>
            <a:r>
              <a:rPr sz="1400" b="0">
                <a:solidFill>
                  <a:srgbClr val="9EB2CC"/>
                </a:solidFill>
                <a:latin typeface="Segoe UI"/>
              </a:rPr>
              <a:t>AI-assisted authoring · OneLake-deep enforcement · Activator-grade alerts</a:t>
            </a:r>
          </a:p>
        </p:txBody>
      </p:sp>
      <p:sp>
        <p:nvSpPr>
          <p:cNvPr id="9" name="Rounded Rectangle 8"/>
          <p:cNvSpPr/>
          <p:nvPr/>
        </p:nvSpPr>
        <p:spPr>
          <a:xfrm>
            <a:off x="868680" y="4617720"/>
            <a:ext cx="1591056" cy="292608"/>
          </a:xfrm>
          <a:prstGeom prst="roundRect">
            <a:avLst>
              <a:gd name="adj" fmla="val 50000"/>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617720"/>
            <a:ext cx="1591056" cy="292608"/>
          </a:xfrm>
          <a:prstGeom prst="rect">
            <a:avLst/>
          </a:prstGeom>
          <a:noFill/>
        </p:spPr>
        <p:txBody>
          <a:bodyPr wrap="square" lIns="0" rIns="0" tIns="0" bIns="0" anchor="ctr">
            <a:spAutoFit/>
          </a:bodyPr>
          <a:lstStyle/>
          <a:p>
            <a:pPr algn="ctr"/>
            <a:r>
              <a:rPr sz="1000" b="1">
                <a:solidFill>
                  <a:srgbClr val="FFFFFF"/>
                </a:solidFill>
                <a:latin typeface="Segoe UI"/>
              </a:rPr>
              <a:t>Microsoft Fabric ISV</a:t>
            </a:r>
          </a:p>
        </p:txBody>
      </p:sp>
      <p:sp>
        <p:nvSpPr>
          <p:cNvPr id="11" name="Rounded Rectangle 10"/>
          <p:cNvSpPr/>
          <p:nvPr/>
        </p:nvSpPr>
        <p:spPr>
          <a:xfrm>
            <a:off x="2596896" y="4617720"/>
            <a:ext cx="973836" cy="292608"/>
          </a:xfrm>
          <a:prstGeom prst="roundRect">
            <a:avLst>
              <a:gd name="adj" fmla="val 50000"/>
            </a:avLst>
          </a:prstGeom>
          <a:solidFill>
            <a:srgbClr val="12B7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6896" y="4617720"/>
            <a:ext cx="973836" cy="292608"/>
          </a:xfrm>
          <a:prstGeom prst="rect">
            <a:avLst/>
          </a:prstGeom>
          <a:noFill/>
        </p:spPr>
        <p:txBody>
          <a:bodyPr wrap="square" lIns="0" rIns="0" tIns="0" bIns="0" anchor="ctr">
            <a:spAutoFit/>
          </a:bodyPr>
          <a:lstStyle/>
          <a:p>
            <a:pPr algn="ctr"/>
            <a:r>
              <a:rPr sz="1000" b="1">
                <a:solidFill>
                  <a:srgbClr val="FFFFFF"/>
                </a:solidFill>
                <a:latin typeface="Segoe UI"/>
              </a:rPr>
              <a:t>ODCS v3.1.0</a:t>
            </a:r>
          </a:p>
        </p:txBody>
      </p:sp>
      <p:sp>
        <p:nvSpPr>
          <p:cNvPr id="13" name="Rounded Rectangle 12"/>
          <p:cNvSpPr/>
          <p:nvPr/>
        </p:nvSpPr>
        <p:spPr>
          <a:xfrm>
            <a:off x="3707892" y="4617720"/>
            <a:ext cx="836675" cy="292608"/>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7892" y="4617720"/>
            <a:ext cx="836675" cy="292608"/>
          </a:xfrm>
          <a:prstGeom prst="rect">
            <a:avLst/>
          </a:prstGeom>
          <a:noFill/>
        </p:spPr>
        <p:txBody>
          <a:bodyPr wrap="square" lIns="0" rIns="0" tIns="0" bIns="0" anchor="ctr">
            <a:spAutoFit/>
          </a:bodyPr>
          <a:lstStyle/>
          <a:p>
            <a:pPr algn="ctr"/>
            <a:r>
              <a:rPr sz="1000" b="1">
                <a:solidFill>
                  <a:srgbClr val="FFFFFF"/>
                </a:solidFill>
                <a:latin typeface="Segoe UI"/>
              </a:rPr>
              <a:t>AI-Native</a:t>
            </a:r>
          </a:p>
        </p:txBody>
      </p:sp>
      <p:sp>
        <p:nvSpPr>
          <p:cNvPr id="15" name="Rounded Rectangle 14"/>
          <p:cNvSpPr/>
          <p:nvPr/>
        </p:nvSpPr>
        <p:spPr>
          <a:xfrm>
            <a:off x="4681727" y="4617720"/>
            <a:ext cx="973836" cy="292608"/>
          </a:xfrm>
          <a:prstGeom prst="roundRect">
            <a:avLst>
              <a:gd name="adj" fmla="val 50000"/>
            </a:avLst>
          </a:prstGeom>
          <a:solidFill>
            <a:srgbClr val="E04B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81727" y="4617720"/>
            <a:ext cx="973836" cy="292608"/>
          </a:xfrm>
          <a:prstGeom prst="rect">
            <a:avLst/>
          </a:prstGeom>
          <a:noFill/>
        </p:spPr>
        <p:txBody>
          <a:bodyPr wrap="square" lIns="0" rIns="0" tIns="0" bIns="0" anchor="ctr">
            <a:spAutoFit/>
          </a:bodyPr>
          <a:lstStyle/>
          <a:p>
            <a:pPr algn="ctr"/>
            <a:r>
              <a:rPr sz="1000" b="1">
                <a:solidFill>
                  <a:srgbClr val="FFFFFF"/>
                </a:solidFill>
                <a:latin typeface="Segoe UI"/>
              </a:rPr>
              <a:t>Series Seed</a:t>
            </a:r>
          </a:p>
        </p:txBody>
      </p:sp>
      <p:sp>
        <p:nvSpPr>
          <p:cNvPr id="17" name="TextBox 16"/>
          <p:cNvSpPr txBox="1"/>
          <p:nvPr/>
        </p:nvSpPr>
        <p:spPr>
          <a:xfrm>
            <a:off x="868680" y="6035040"/>
            <a:ext cx="10058400" cy="365760"/>
          </a:xfrm>
          <a:prstGeom prst="rect">
            <a:avLst/>
          </a:prstGeom>
          <a:noFill/>
        </p:spPr>
        <p:txBody>
          <a:bodyPr wrap="square" lIns="0" rIns="0" tIns="0" bIns="0" anchor="t">
            <a:spAutoFit/>
          </a:bodyPr>
          <a:lstStyle/>
          <a:p>
            <a:pPr algn="l"/>
            <a:r>
              <a:rPr sz="1000" b="0">
                <a:solidFill>
                  <a:srgbClr val="7086A2"/>
                </a:solidFill>
                <a:latin typeface="Segoe UI"/>
              </a:rPr>
              <a:t>Investor Deck ·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THE PROBLEM</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Every modern data team is silently broken by undeclared contracts.</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02 / 14</a:t>
            </a:r>
          </a:p>
        </p:txBody>
      </p:sp>
      <p:sp>
        <p:nvSpPr>
          <p:cNvPr id="9" name="TextBox 8"/>
          <p:cNvSpPr txBox="1"/>
          <p:nvPr/>
        </p:nvSpPr>
        <p:spPr>
          <a:xfrm>
            <a:off x="640080" y="1691640"/>
            <a:ext cx="10881360" cy="411480"/>
          </a:xfrm>
          <a:prstGeom prst="rect">
            <a:avLst/>
          </a:prstGeom>
          <a:noFill/>
        </p:spPr>
        <p:txBody>
          <a:bodyPr wrap="square" lIns="0" rIns="0" tIns="0" bIns="0" anchor="t">
            <a:spAutoFit/>
          </a:bodyPr>
          <a:lstStyle/>
          <a:p>
            <a:pPr algn="l"/>
            <a:r>
              <a:rPr sz="1400" b="0">
                <a:solidFill>
                  <a:srgbClr val="334E68"/>
                </a:solidFill>
                <a:latin typeface="Segoe UI"/>
              </a:rPr>
              <a:t>Lakehouses run on tribal knowledge. Schemas drift. PII leaks. Dashboards lie. AI models train on bad data.</a:t>
            </a:r>
          </a:p>
        </p:txBody>
      </p:sp>
      <p:sp>
        <p:nvSpPr>
          <p:cNvPr id="10" name="Rounded Rectangle 9"/>
          <p:cNvSpPr/>
          <p:nvPr/>
        </p:nvSpPr>
        <p:spPr>
          <a:xfrm>
            <a:off x="640080" y="2331720"/>
            <a:ext cx="3611880" cy="38404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331720"/>
            <a:ext cx="3611880" cy="109728"/>
          </a:xfrm>
          <a:prstGeom prst="rect">
            <a:avLst/>
          </a:prstGeom>
          <a:solidFill>
            <a:srgbClr val="E04B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88920"/>
            <a:ext cx="3063240" cy="1463040"/>
          </a:xfrm>
          <a:prstGeom prst="rect">
            <a:avLst/>
          </a:prstGeom>
          <a:noFill/>
        </p:spPr>
        <p:txBody>
          <a:bodyPr wrap="square" lIns="0" rIns="0" tIns="0" bIns="0" anchor="t">
            <a:spAutoFit/>
          </a:bodyPr>
          <a:lstStyle/>
          <a:p>
            <a:pPr algn="l"/>
            <a:r>
              <a:rPr sz="5400" b="1">
                <a:solidFill>
                  <a:srgbClr val="E04B53"/>
                </a:solidFill>
                <a:latin typeface="Segoe UI"/>
              </a:rPr>
              <a:t>$12.9M</a:t>
            </a:r>
          </a:p>
        </p:txBody>
      </p:sp>
      <p:sp>
        <p:nvSpPr>
          <p:cNvPr id="13" name="TextBox 12"/>
          <p:cNvSpPr txBox="1"/>
          <p:nvPr/>
        </p:nvSpPr>
        <p:spPr>
          <a:xfrm>
            <a:off x="914400" y="4343400"/>
            <a:ext cx="3063240" cy="1645920"/>
          </a:xfrm>
          <a:prstGeom prst="rect">
            <a:avLst/>
          </a:prstGeom>
          <a:noFill/>
        </p:spPr>
        <p:txBody>
          <a:bodyPr wrap="square" lIns="0" rIns="0" tIns="0" bIns="0" anchor="t">
            <a:spAutoFit/>
          </a:bodyPr>
          <a:lstStyle/>
          <a:p>
            <a:pPr algn="l"/>
            <a:r>
              <a:rPr sz="1400" b="0">
                <a:solidFill>
                  <a:srgbClr val="334E68"/>
                </a:solidFill>
                <a:latin typeface="Segoe UI"/>
              </a:rPr>
              <a:t>Average annual cost of bad data per enterprise (Gartner, 2023). 60% of AI projects stall on data quality.</a:t>
            </a:r>
          </a:p>
        </p:txBody>
      </p:sp>
      <p:sp>
        <p:nvSpPr>
          <p:cNvPr id="14" name="Rounded Rectangle 13"/>
          <p:cNvSpPr/>
          <p:nvPr/>
        </p:nvSpPr>
        <p:spPr>
          <a:xfrm>
            <a:off x="4389120" y="2331720"/>
            <a:ext cx="3611880" cy="38404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331720"/>
            <a:ext cx="3611880" cy="109728"/>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788920"/>
            <a:ext cx="3063240" cy="1463040"/>
          </a:xfrm>
          <a:prstGeom prst="rect">
            <a:avLst/>
          </a:prstGeom>
          <a:noFill/>
        </p:spPr>
        <p:txBody>
          <a:bodyPr wrap="square" lIns="0" rIns="0" tIns="0" bIns="0" anchor="t">
            <a:spAutoFit/>
          </a:bodyPr>
          <a:lstStyle/>
          <a:p>
            <a:pPr algn="l"/>
            <a:r>
              <a:rPr sz="5400" b="1">
                <a:solidFill>
                  <a:srgbClr val="F2A31B"/>
                </a:solidFill>
                <a:latin typeface="Segoe UI"/>
              </a:rPr>
              <a:t>84%</a:t>
            </a:r>
          </a:p>
        </p:txBody>
      </p:sp>
      <p:sp>
        <p:nvSpPr>
          <p:cNvPr id="17" name="TextBox 16"/>
          <p:cNvSpPr txBox="1"/>
          <p:nvPr/>
        </p:nvSpPr>
        <p:spPr>
          <a:xfrm>
            <a:off x="4663440" y="4343400"/>
            <a:ext cx="3063240" cy="1645920"/>
          </a:xfrm>
          <a:prstGeom prst="rect">
            <a:avLst/>
          </a:prstGeom>
          <a:noFill/>
        </p:spPr>
        <p:txBody>
          <a:bodyPr wrap="square" lIns="0" rIns="0" tIns="0" bIns="0" anchor="t">
            <a:spAutoFit/>
          </a:bodyPr>
          <a:lstStyle/>
          <a:p>
            <a:pPr algn="l"/>
            <a:r>
              <a:rPr sz="1400" b="0">
                <a:solidFill>
                  <a:srgbClr val="334E68"/>
                </a:solidFill>
                <a:latin typeface="Segoe UI"/>
              </a:rPr>
              <a:t>Data engineers say schema breakage is their #1 incident driver. Producers and consumers never sign an agreement.</a:t>
            </a:r>
          </a:p>
        </p:txBody>
      </p:sp>
      <p:sp>
        <p:nvSpPr>
          <p:cNvPr id="18" name="Rounded Rectangle 17"/>
          <p:cNvSpPr/>
          <p:nvPr/>
        </p:nvSpPr>
        <p:spPr>
          <a:xfrm>
            <a:off x="8138160" y="2331720"/>
            <a:ext cx="3611880" cy="38404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2331720"/>
            <a:ext cx="3611880" cy="109728"/>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788920"/>
            <a:ext cx="3063240" cy="1463040"/>
          </a:xfrm>
          <a:prstGeom prst="rect">
            <a:avLst/>
          </a:prstGeom>
          <a:noFill/>
        </p:spPr>
        <p:txBody>
          <a:bodyPr wrap="square" lIns="0" rIns="0" tIns="0" bIns="0" anchor="t">
            <a:spAutoFit/>
          </a:bodyPr>
          <a:lstStyle/>
          <a:p>
            <a:pPr algn="l"/>
            <a:r>
              <a:rPr sz="5400" b="1">
                <a:solidFill>
                  <a:srgbClr val="1177D1"/>
                </a:solidFill>
                <a:latin typeface="Segoe UI"/>
              </a:rPr>
              <a:t>0</a:t>
            </a:r>
          </a:p>
        </p:txBody>
      </p:sp>
      <p:sp>
        <p:nvSpPr>
          <p:cNvPr id="21" name="TextBox 20"/>
          <p:cNvSpPr txBox="1"/>
          <p:nvPr/>
        </p:nvSpPr>
        <p:spPr>
          <a:xfrm>
            <a:off x="8412480" y="4343400"/>
            <a:ext cx="3063240" cy="1645920"/>
          </a:xfrm>
          <a:prstGeom prst="rect">
            <a:avLst/>
          </a:prstGeom>
          <a:noFill/>
        </p:spPr>
        <p:txBody>
          <a:bodyPr wrap="square" lIns="0" rIns="0" tIns="0" bIns="0" anchor="t">
            <a:spAutoFit/>
          </a:bodyPr>
          <a:lstStyle/>
          <a:p>
            <a:pPr algn="l"/>
            <a:r>
              <a:rPr sz="1400" b="0">
                <a:solidFill>
                  <a:srgbClr val="334E68"/>
                </a:solidFill>
                <a:latin typeface="Segoe UI"/>
              </a:rPr>
              <a:t>Number of Fabric-native tools that enforce a portable ODCS contract on Delta tables. Until 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WHY NOW</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Three tectonic shifts make this the moment.</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03 / 14</a:t>
            </a:r>
          </a:p>
        </p:txBody>
      </p:sp>
      <p:sp>
        <p:nvSpPr>
          <p:cNvPr id="9" name="Rounded Rectangle 8"/>
          <p:cNvSpPr/>
          <p:nvPr/>
        </p:nvSpPr>
        <p:spPr>
          <a:xfrm>
            <a:off x="640080" y="1783080"/>
            <a:ext cx="10881360" cy="13258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783080"/>
            <a:ext cx="109728" cy="132588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947672"/>
            <a:ext cx="10515600" cy="365760"/>
          </a:xfrm>
          <a:prstGeom prst="rect">
            <a:avLst/>
          </a:prstGeom>
          <a:noFill/>
        </p:spPr>
        <p:txBody>
          <a:bodyPr wrap="square" lIns="0" rIns="0" tIns="0" bIns="0" anchor="t">
            <a:spAutoFit/>
          </a:bodyPr>
          <a:lstStyle/>
          <a:p>
            <a:pPr algn="l"/>
            <a:r>
              <a:rPr sz="1600" b="1">
                <a:solidFill>
                  <a:srgbClr val="0B1F3A"/>
                </a:solidFill>
                <a:latin typeface="Segoe UI"/>
              </a:rPr>
              <a:t>Microsoft Fabric is the new center of gravity.</a:t>
            </a:r>
          </a:p>
        </p:txBody>
      </p:sp>
      <p:sp>
        <p:nvSpPr>
          <p:cNvPr id="12" name="TextBox 11"/>
          <p:cNvSpPr txBox="1"/>
          <p:nvPr/>
        </p:nvSpPr>
        <p:spPr>
          <a:xfrm>
            <a:off x="914400" y="2404872"/>
            <a:ext cx="10515600" cy="685800"/>
          </a:xfrm>
          <a:prstGeom prst="rect">
            <a:avLst/>
          </a:prstGeom>
          <a:noFill/>
        </p:spPr>
        <p:txBody>
          <a:bodyPr wrap="square" lIns="0" rIns="0" tIns="0" bIns="0" anchor="t">
            <a:spAutoFit/>
          </a:bodyPr>
          <a:lstStyle/>
          <a:p>
            <a:pPr algn="l"/>
            <a:r>
              <a:rPr sz="1200" b="0">
                <a:solidFill>
                  <a:srgbClr val="334E68"/>
                </a:solidFill>
                <a:latin typeface="Segoe UI"/>
              </a:rPr>
              <a:t>Fabric crossed 19,000 paying enterprise customers in 2025 and ships with OneLake, the first universal multi-cloud data lake. Every Fortune 500 either runs it or evaluates it. The platform finally exposes a real workload SDK for ISVs.</a:t>
            </a:r>
          </a:p>
        </p:txBody>
      </p:sp>
      <p:sp>
        <p:nvSpPr>
          <p:cNvPr id="13" name="Rounded Rectangle 12"/>
          <p:cNvSpPr/>
          <p:nvPr/>
        </p:nvSpPr>
        <p:spPr>
          <a:xfrm>
            <a:off x="640080" y="3246120"/>
            <a:ext cx="10881360" cy="13258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246120"/>
            <a:ext cx="109728" cy="1325880"/>
          </a:xfrm>
          <a:prstGeom prst="rect">
            <a:avLst/>
          </a:prstGeom>
          <a:solidFill>
            <a:srgbClr val="12B7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10712"/>
            <a:ext cx="10515600" cy="365760"/>
          </a:xfrm>
          <a:prstGeom prst="rect">
            <a:avLst/>
          </a:prstGeom>
          <a:noFill/>
        </p:spPr>
        <p:txBody>
          <a:bodyPr wrap="square" lIns="0" rIns="0" tIns="0" bIns="0" anchor="t">
            <a:spAutoFit/>
          </a:bodyPr>
          <a:lstStyle/>
          <a:p>
            <a:pPr algn="l"/>
            <a:r>
              <a:rPr sz="1600" b="1">
                <a:solidFill>
                  <a:srgbClr val="0B1F3A"/>
                </a:solidFill>
                <a:latin typeface="Segoe UI"/>
              </a:rPr>
              <a:t>ODCS v3.1.0 just standardised the contract.</a:t>
            </a:r>
          </a:p>
        </p:txBody>
      </p:sp>
      <p:sp>
        <p:nvSpPr>
          <p:cNvPr id="16" name="TextBox 15"/>
          <p:cNvSpPr txBox="1"/>
          <p:nvPr/>
        </p:nvSpPr>
        <p:spPr>
          <a:xfrm>
            <a:off x="914400" y="3867912"/>
            <a:ext cx="10515600" cy="685800"/>
          </a:xfrm>
          <a:prstGeom prst="rect">
            <a:avLst/>
          </a:prstGeom>
          <a:noFill/>
        </p:spPr>
        <p:txBody>
          <a:bodyPr wrap="square" lIns="0" rIns="0" tIns="0" bIns="0" anchor="t">
            <a:spAutoFit/>
          </a:bodyPr>
          <a:lstStyle/>
          <a:p>
            <a:pPr algn="l"/>
            <a:r>
              <a:rPr sz="1200" b="0">
                <a:solidFill>
                  <a:srgbClr val="334E68"/>
                </a:solidFill>
                <a:latin typeface="Segoe UI"/>
              </a:rPr>
              <a:t>Bitol Foundation (Linux Foundation) shipped ODCS 3.1 in 2025: a portable YAML spec for schema, quality, SLA, security, and AI metadata. Adopted by JPMorgan, PayPal, Roche, AT&amp;T. Replaces 10 proprietary catalog dialects.</a:t>
            </a:r>
          </a:p>
        </p:txBody>
      </p:sp>
      <p:sp>
        <p:nvSpPr>
          <p:cNvPr id="17" name="Rounded Rectangle 16"/>
          <p:cNvSpPr/>
          <p:nvPr/>
        </p:nvSpPr>
        <p:spPr>
          <a:xfrm>
            <a:off x="640080" y="4709160"/>
            <a:ext cx="10881360" cy="13258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709160"/>
            <a:ext cx="109728" cy="132588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873752"/>
            <a:ext cx="10515600" cy="365760"/>
          </a:xfrm>
          <a:prstGeom prst="rect">
            <a:avLst/>
          </a:prstGeom>
          <a:noFill/>
        </p:spPr>
        <p:txBody>
          <a:bodyPr wrap="square" lIns="0" rIns="0" tIns="0" bIns="0" anchor="t">
            <a:spAutoFit/>
          </a:bodyPr>
          <a:lstStyle/>
          <a:p>
            <a:pPr algn="l"/>
            <a:r>
              <a:rPr sz="1600" b="1">
                <a:solidFill>
                  <a:srgbClr val="0B1F3A"/>
                </a:solidFill>
                <a:latin typeface="Segoe UI"/>
              </a:rPr>
              <a:t>Agentic AI demands provable data lineage.</a:t>
            </a:r>
          </a:p>
        </p:txBody>
      </p:sp>
      <p:sp>
        <p:nvSpPr>
          <p:cNvPr id="20" name="TextBox 19"/>
          <p:cNvSpPr txBox="1"/>
          <p:nvPr/>
        </p:nvSpPr>
        <p:spPr>
          <a:xfrm>
            <a:off x="914400" y="5330952"/>
            <a:ext cx="10515600" cy="685800"/>
          </a:xfrm>
          <a:prstGeom prst="rect">
            <a:avLst/>
          </a:prstGeom>
          <a:noFill/>
        </p:spPr>
        <p:txBody>
          <a:bodyPr wrap="square" lIns="0" rIns="0" tIns="0" bIns="0" anchor="t">
            <a:spAutoFit/>
          </a:bodyPr>
          <a:lstStyle/>
          <a:p>
            <a:pPr algn="l"/>
            <a:r>
              <a:rPr sz="1200" b="0">
                <a:solidFill>
                  <a:srgbClr val="334E68"/>
                </a:solidFill>
                <a:latin typeface="Segoe UI"/>
              </a:rPr>
              <a:t>Regulators (EU AI Act, US NIST AI RMF) now require demonstrable provenance for any data used in AI. ‘Trust me, the dashboard is correct’ doesn’t pass an audit. Contracts are the audit artifact.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OUR SOLUTION</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Orqentis is the Fabric-native ODCS enforcer.</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04 / 14</a:t>
            </a:r>
          </a:p>
        </p:txBody>
      </p:sp>
      <p:sp>
        <p:nvSpPr>
          <p:cNvPr id="9" name="TextBox 8"/>
          <p:cNvSpPr txBox="1"/>
          <p:nvPr/>
        </p:nvSpPr>
        <p:spPr>
          <a:xfrm>
            <a:off x="640080" y="1691640"/>
            <a:ext cx="10881360" cy="457200"/>
          </a:xfrm>
          <a:prstGeom prst="rect">
            <a:avLst/>
          </a:prstGeom>
          <a:noFill/>
        </p:spPr>
        <p:txBody>
          <a:bodyPr wrap="square" lIns="0" rIns="0" tIns="0" bIns="0" anchor="t">
            <a:spAutoFit/>
          </a:bodyPr>
          <a:lstStyle/>
          <a:p>
            <a:pPr algn="l"/>
            <a:r>
              <a:rPr sz="1400" b="0">
                <a:solidFill>
                  <a:srgbClr val="334E68"/>
                </a:solidFill>
                <a:latin typeface="Segoe UI"/>
              </a:rPr>
              <a:t>Author, evaluate, and enforce ODCS v3.1.0 contracts directly on OneLake Delta tables — without leaving Microsoft Fabric.</a:t>
            </a:r>
          </a:p>
        </p:txBody>
      </p:sp>
      <p:sp>
        <p:nvSpPr>
          <p:cNvPr id="10" name="Rounded Rectangle 9"/>
          <p:cNvSpPr/>
          <p:nvPr/>
        </p:nvSpPr>
        <p:spPr>
          <a:xfrm>
            <a:off x="640080" y="2468880"/>
            <a:ext cx="2697480" cy="356616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468880"/>
            <a:ext cx="2697480" cy="54864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468880"/>
            <a:ext cx="2697480" cy="548640"/>
          </a:xfrm>
          <a:prstGeom prst="rect">
            <a:avLst/>
          </a:prstGeom>
          <a:noFill/>
        </p:spPr>
        <p:txBody>
          <a:bodyPr wrap="square" lIns="0" rIns="0" tIns="0" bIns="0" anchor="ctr">
            <a:spAutoFit/>
          </a:bodyPr>
          <a:lstStyle/>
          <a:p>
            <a:pPr algn="ctr"/>
            <a:r>
              <a:rPr sz="1800" b="1">
                <a:solidFill>
                  <a:srgbClr val="FFFFFF"/>
                </a:solidFill>
                <a:latin typeface="Segoe UI"/>
              </a:rPr>
              <a:t>Author</a:t>
            </a:r>
          </a:p>
        </p:txBody>
      </p:sp>
      <p:sp>
        <p:nvSpPr>
          <p:cNvPr id="13" name="TextBox 12"/>
          <p:cNvSpPr txBox="1"/>
          <p:nvPr/>
        </p:nvSpPr>
        <p:spPr>
          <a:xfrm>
            <a:off x="914400" y="3246120"/>
            <a:ext cx="2148840" cy="2651760"/>
          </a:xfrm>
          <a:prstGeom prst="rect">
            <a:avLst/>
          </a:prstGeom>
          <a:noFill/>
        </p:spPr>
        <p:txBody>
          <a:bodyPr wrap="square" lIns="0" rIns="0" tIns="0" bIns="0" anchor="t">
            <a:spAutoFit/>
          </a:bodyPr>
          <a:lstStyle/>
          <a:p>
            <a:pPr algn="l"/>
            <a:r>
              <a:rPr sz="1200" b="0">
                <a:solidFill>
                  <a:srgbClr val="334E68"/>
                </a:solidFill>
                <a:latin typeface="Segoe UI"/>
              </a:rPr>
              <a:t>Monaco YAML with ODCS JSON-Schema IntelliSense, AI suggest from real samples, drift-aware reviews.</a:t>
            </a:r>
          </a:p>
        </p:txBody>
      </p:sp>
      <p:sp>
        <p:nvSpPr>
          <p:cNvPr id="14" name="Rounded Rectangle 13"/>
          <p:cNvSpPr/>
          <p:nvPr/>
        </p:nvSpPr>
        <p:spPr>
          <a:xfrm>
            <a:off x="3429000" y="2468880"/>
            <a:ext cx="2697480" cy="356616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2468880"/>
            <a:ext cx="2697480" cy="548640"/>
          </a:xfrm>
          <a:prstGeom prst="rect">
            <a:avLst/>
          </a:prstGeom>
          <a:solidFill>
            <a:srgbClr val="12B7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468880"/>
            <a:ext cx="2697480" cy="548640"/>
          </a:xfrm>
          <a:prstGeom prst="rect">
            <a:avLst/>
          </a:prstGeom>
          <a:noFill/>
        </p:spPr>
        <p:txBody>
          <a:bodyPr wrap="square" lIns="0" rIns="0" tIns="0" bIns="0" anchor="ctr">
            <a:spAutoFit/>
          </a:bodyPr>
          <a:lstStyle/>
          <a:p>
            <a:pPr algn="ctr"/>
            <a:r>
              <a:rPr sz="1800" b="1">
                <a:solidFill>
                  <a:srgbClr val="FFFFFF"/>
                </a:solidFill>
                <a:latin typeface="Segoe UI"/>
              </a:rPr>
              <a:t>Evaluate</a:t>
            </a:r>
          </a:p>
        </p:txBody>
      </p:sp>
      <p:sp>
        <p:nvSpPr>
          <p:cNvPr id="17" name="TextBox 16"/>
          <p:cNvSpPr txBox="1"/>
          <p:nvPr/>
        </p:nvSpPr>
        <p:spPr>
          <a:xfrm>
            <a:off x="3703320" y="3246120"/>
            <a:ext cx="2148840" cy="2651760"/>
          </a:xfrm>
          <a:prstGeom prst="rect">
            <a:avLst/>
          </a:prstGeom>
          <a:noFill/>
        </p:spPr>
        <p:txBody>
          <a:bodyPr wrap="square" lIns="0" rIns="0" tIns="0" bIns="0" anchor="t">
            <a:spAutoFit/>
          </a:bodyPr>
          <a:lstStyle/>
          <a:p>
            <a:pPr algn="l"/>
            <a:r>
              <a:rPr sz="1200" b="0">
                <a:solidFill>
                  <a:srgbClr val="334E68"/>
                </a:solidFill>
                <a:latin typeface="Segoe UI"/>
              </a:rPr>
              <a:t>Engine reads Delta logs over OneLake (OBO) and runs schema, quality, SLA, freshness, and PII rules in &lt;60s.</a:t>
            </a:r>
          </a:p>
        </p:txBody>
      </p:sp>
      <p:sp>
        <p:nvSpPr>
          <p:cNvPr id="18" name="Rounded Rectangle 17"/>
          <p:cNvSpPr/>
          <p:nvPr/>
        </p:nvSpPr>
        <p:spPr>
          <a:xfrm>
            <a:off x="6217920" y="2468880"/>
            <a:ext cx="2697480" cy="356616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2468880"/>
            <a:ext cx="2697480" cy="54864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2468880"/>
            <a:ext cx="2697480" cy="548640"/>
          </a:xfrm>
          <a:prstGeom prst="rect">
            <a:avLst/>
          </a:prstGeom>
          <a:noFill/>
        </p:spPr>
        <p:txBody>
          <a:bodyPr wrap="square" lIns="0" rIns="0" tIns="0" bIns="0" anchor="ctr">
            <a:spAutoFit/>
          </a:bodyPr>
          <a:lstStyle/>
          <a:p>
            <a:pPr algn="ctr"/>
            <a:r>
              <a:rPr sz="1800" b="1">
                <a:solidFill>
                  <a:srgbClr val="FFFFFF"/>
                </a:solidFill>
                <a:latin typeface="Segoe UI"/>
              </a:rPr>
              <a:t>Enforce</a:t>
            </a:r>
          </a:p>
        </p:txBody>
      </p:sp>
      <p:sp>
        <p:nvSpPr>
          <p:cNvPr id="21" name="TextBox 20"/>
          <p:cNvSpPr txBox="1"/>
          <p:nvPr/>
        </p:nvSpPr>
        <p:spPr>
          <a:xfrm>
            <a:off x="6492240" y="3246120"/>
            <a:ext cx="2148840" cy="2651760"/>
          </a:xfrm>
          <a:prstGeom prst="rect">
            <a:avLst/>
          </a:prstGeom>
          <a:noFill/>
        </p:spPr>
        <p:txBody>
          <a:bodyPr wrap="square" lIns="0" rIns="0" tIns="0" bIns="0" anchor="t">
            <a:spAutoFit/>
          </a:bodyPr>
          <a:lstStyle/>
          <a:p>
            <a:pPr algn="l"/>
            <a:r>
              <a:rPr sz="1200" b="0">
                <a:solidFill>
                  <a:srgbClr val="334E68"/>
                </a:solidFill>
                <a:latin typeface="Segoe UI"/>
              </a:rPr>
              <a:t>Block downstream pipelines, raise Activator alerts, write back violations as catalog tags — fully auditable.</a:t>
            </a:r>
          </a:p>
        </p:txBody>
      </p:sp>
      <p:sp>
        <p:nvSpPr>
          <p:cNvPr id="22" name="Rounded Rectangle 21"/>
          <p:cNvSpPr/>
          <p:nvPr/>
        </p:nvSpPr>
        <p:spPr>
          <a:xfrm>
            <a:off x="9006840" y="2468880"/>
            <a:ext cx="2697480" cy="356616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2468880"/>
            <a:ext cx="2697480" cy="548640"/>
          </a:xfrm>
          <a:prstGeom prst="rect">
            <a:avLst/>
          </a:prstGeom>
          <a:solidFill>
            <a:srgbClr val="E04B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2468880"/>
            <a:ext cx="2697480" cy="548640"/>
          </a:xfrm>
          <a:prstGeom prst="rect">
            <a:avLst/>
          </a:prstGeom>
          <a:noFill/>
        </p:spPr>
        <p:txBody>
          <a:bodyPr wrap="square" lIns="0" rIns="0" tIns="0" bIns="0" anchor="ctr">
            <a:spAutoFit/>
          </a:bodyPr>
          <a:lstStyle/>
          <a:p>
            <a:pPr algn="ctr"/>
            <a:r>
              <a:rPr sz="1800" b="1">
                <a:solidFill>
                  <a:srgbClr val="FFFFFF"/>
                </a:solidFill>
                <a:latin typeface="Segoe UI"/>
              </a:rPr>
              <a:t>Explain</a:t>
            </a:r>
          </a:p>
        </p:txBody>
      </p:sp>
      <p:sp>
        <p:nvSpPr>
          <p:cNvPr id="25" name="TextBox 24"/>
          <p:cNvSpPr txBox="1"/>
          <p:nvPr/>
        </p:nvSpPr>
        <p:spPr>
          <a:xfrm>
            <a:off x="9281160" y="3246120"/>
            <a:ext cx="2148840" cy="2651760"/>
          </a:xfrm>
          <a:prstGeom prst="rect">
            <a:avLst/>
          </a:prstGeom>
          <a:noFill/>
        </p:spPr>
        <p:txBody>
          <a:bodyPr wrap="square" lIns="0" rIns="0" tIns="0" bIns="0" anchor="t">
            <a:spAutoFit/>
          </a:bodyPr>
          <a:lstStyle/>
          <a:p>
            <a:pPr algn="l"/>
            <a:r>
              <a:rPr sz="1200" b="0">
                <a:solidFill>
                  <a:srgbClr val="334E68"/>
                </a:solidFill>
                <a:latin typeface="Segoe UI"/>
              </a:rPr>
              <a:t>AI agents translate violations into plain-English remediation tickets routed to Teams + Jira + ServiceNow.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PRODUCT · FABRIC INTEGRATION</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Native inside Microsoft Fabric — no portal-switching tax.</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05 / 14</a:t>
            </a:r>
          </a:p>
        </p:txBody>
      </p:sp>
      <p:sp>
        <p:nvSpPr>
          <p:cNvPr id="9" name="TextBox 8"/>
          <p:cNvSpPr txBox="1"/>
          <p:nvPr/>
        </p:nvSpPr>
        <p:spPr>
          <a:xfrm>
            <a:off x="640080" y="1691640"/>
            <a:ext cx="6400800" cy="457200"/>
          </a:xfrm>
          <a:prstGeom prst="rect">
            <a:avLst/>
          </a:prstGeom>
          <a:noFill/>
        </p:spPr>
        <p:txBody>
          <a:bodyPr wrap="square" lIns="0" rIns="0" tIns="0" bIns="0" anchor="t">
            <a:spAutoFit/>
          </a:bodyPr>
          <a:lstStyle/>
          <a:p>
            <a:pPr algn="l"/>
            <a:r>
              <a:rPr sz="1300" b="0">
                <a:solidFill>
                  <a:srgbClr val="334E68"/>
                </a:solidFill>
                <a:latin typeface="Segoe UI"/>
              </a:rPr>
              <a:t>Orqentis ships as a first-class Fabric workload. Users discover, create, and govern contracts from the same hub where they author lakehouses and pipelines.</a:t>
            </a:r>
          </a:p>
        </p:txBody>
      </p:sp>
      <p:sp>
        <p:nvSpPr>
          <p:cNvPr id="10" name="TextBox 9"/>
          <p:cNvSpPr txBox="1"/>
          <p:nvPr/>
        </p:nvSpPr>
        <p:spPr>
          <a:xfrm>
            <a:off x="640080" y="2743200"/>
            <a:ext cx="4937760" cy="3200400"/>
          </a:xfrm>
          <a:prstGeom prst="rect">
            <a:avLst/>
          </a:prstGeom>
          <a:noFill/>
        </p:spPr>
        <p:txBody>
          <a:bodyPr wrap="square" lIns="0" rIns="0" tIns="0" bIns="0">
            <a:spAutoFit/>
          </a:bodyPr>
          <a:lstStyle/>
          <a:p>
            <a:pPr algn="l">
              <a:lnSpc>
                <a:spcPct val="115000"/>
              </a:lnSpc>
              <a:spcAft>
                <a:spcPts val="400"/>
              </a:spcAft>
            </a:pPr>
            <a:r>
              <a:rPr sz="1300" b="1">
                <a:solidFill>
                  <a:srgbClr val="1177D1"/>
                </a:solidFill>
                <a:latin typeface="Segoe UI"/>
              </a:rPr>
              <a:t>■ </a:t>
            </a:r>
            <a:r>
              <a:rPr sz="1300" b="1">
                <a:solidFill>
                  <a:srgbClr val="0B1F3A"/>
                </a:solidFill>
                <a:latin typeface="Segoe UI"/>
              </a:rPr>
              <a:t>Workload hub.  </a:t>
            </a:r>
            <a:r>
              <a:rPr sz="1300">
                <a:solidFill>
                  <a:srgbClr val="0B1F3A"/>
                </a:solidFill>
                <a:latin typeface="Segoe UI"/>
              </a:rPr>
              <a:t>Listed alongside Lakehouse, Notebook, Pipeline.</a:t>
            </a:r>
          </a:p>
          <a:p>
            <a:pPr algn="l">
              <a:lnSpc>
                <a:spcPct val="115000"/>
              </a:lnSpc>
              <a:spcAft>
                <a:spcPts val="400"/>
              </a:spcAft>
            </a:pPr>
            <a:r>
              <a:rPr sz="1300" b="1">
                <a:solidFill>
                  <a:srgbClr val="1177D1"/>
                </a:solidFill>
                <a:latin typeface="Segoe UI"/>
              </a:rPr>
              <a:t>■ </a:t>
            </a:r>
            <a:r>
              <a:rPr sz="1300" b="1">
                <a:solidFill>
                  <a:srgbClr val="0B1F3A"/>
                </a:solidFill>
                <a:latin typeface="Segoe UI"/>
              </a:rPr>
              <a:t>Item types.  </a:t>
            </a:r>
            <a:r>
              <a:rPr sz="1300">
                <a:solidFill>
                  <a:srgbClr val="0B1F3A"/>
                </a:solidFill>
                <a:latin typeface="Segoe UI"/>
              </a:rPr>
              <a:t>Contract · Policy · Run · Report — each a Fabric item.</a:t>
            </a:r>
          </a:p>
          <a:p>
            <a:pPr algn="l">
              <a:lnSpc>
                <a:spcPct val="115000"/>
              </a:lnSpc>
              <a:spcAft>
                <a:spcPts val="400"/>
              </a:spcAft>
            </a:pPr>
            <a:r>
              <a:rPr sz="1300" b="1">
                <a:solidFill>
                  <a:srgbClr val="1177D1"/>
                </a:solidFill>
                <a:latin typeface="Segoe UI"/>
              </a:rPr>
              <a:t>■ </a:t>
            </a:r>
            <a:r>
              <a:rPr sz="1300" b="1">
                <a:solidFill>
                  <a:srgbClr val="0B1F3A"/>
                </a:solidFill>
                <a:latin typeface="Segoe UI"/>
              </a:rPr>
              <a:t>Workspace-aware.  </a:t>
            </a:r>
            <a:r>
              <a:rPr sz="1300">
                <a:solidFill>
                  <a:srgbClr val="0B1F3A"/>
                </a:solidFill>
                <a:latin typeface="Segoe UI"/>
              </a:rPr>
              <a:t>OBO tokens enforce existing Fabric RBAC.</a:t>
            </a:r>
          </a:p>
          <a:p>
            <a:pPr algn="l">
              <a:lnSpc>
                <a:spcPct val="115000"/>
              </a:lnSpc>
              <a:spcAft>
                <a:spcPts val="400"/>
              </a:spcAft>
            </a:pPr>
            <a:r>
              <a:rPr sz="1300" b="1">
                <a:solidFill>
                  <a:srgbClr val="1177D1"/>
                </a:solidFill>
                <a:latin typeface="Segoe UI"/>
              </a:rPr>
              <a:t>■ </a:t>
            </a:r>
            <a:r>
              <a:rPr sz="1300" b="1">
                <a:solidFill>
                  <a:srgbClr val="0B1F3A"/>
                </a:solidFill>
                <a:latin typeface="Segoe UI"/>
              </a:rPr>
              <a:t>Theme-aware.  </a:t>
            </a:r>
            <a:r>
              <a:rPr sz="1300">
                <a:solidFill>
                  <a:srgbClr val="0B1F3A"/>
                </a:solidFill>
                <a:latin typeface="Segoe UI"/>
              </a:rPr>
              <a:t>Inherits Fluent UI v9 tokens from the host portal.</a:t>
            </a:r>
          </a:p>
        </p:txBody>
      </p:sp>
      <p:sp>
        <p:nvSpPr>
          <p:cNvPr id="11" name="Rounded Rectangle 10"/>
          <p:cNvSpPr/>
          <p:nvPr/>
        </p:nvSpPr>
        <p:spPr>
          <a:xfrm>
            <a:off x="5852160" y="1783080"/>
            <a:ext cx="5760720" cy="4297680"/>
          </a:xfrm>
          <a:prstGeom prst="roundRect">
            <a:avLst>
              <a:gd name="adj" fmla="val 3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7-fabric-workload-hub.png"/>
          <p:cNvPicPr>
            <a:picLocks noChangeAspect="1"/>
          </p:cNvPicPr>
          <p:nvPr/>
        </p:nvPicPr>
        <p:blipFill>
          <a:blip r:embed="rId2"/>
          <a:stretch>
            <a:fillRect/>
          </a:stretch>
        </p:blipFill>
        <p:spPr>
          <a:xfrm>
            <a:off x="6221625" y="1892808"/>
            <a:ext cx="5021789" cy="3785615"/>
          </a:xfrm>
          <a:prstGeom prst="rect">
            <a:avLst/>
          </a:prstGeom>
        </p:spPr>
      </p:pic>
      <p:sp>
        <p:nvSpPr>
          <p:cNvPr id="13" name="TextBox 12"/>
          <p:cNvSpPr txBox="1"/>
          <p:nvPr/>
        </p:nvSpPr>
        <p:spPr>
          <a:xfrm>
            <a:off x="5961888" y="5769864"/>
            <a:ext cx="5541264" cy="256032"/>
          </a:xfrm>
          <a:prstGeom prst="rect">
            <a:avLst/>
          </a:prstGeom>
          <a:noFill/>
        </p:spPr>
        <p:txBody>
          <a:bodyPr wrap="square" lIns="0" rIns="0" tIns="0" bIns="0" anchor="t">
            <a:spAutoFit/>
          </a:bodyPr>
          <a:lstStyle/>
          <a:p>
            <a:pPr algn="ctr"/>
            <a:r>
              <a:rPr sz="1000" b="0">
                <a:solidFill>
                  <a:srgbClr val="6B7788"/>
                </a:solidFill>
                <a:latin typeface="Segoe UI"/>
              </a:rPr>
              <a:t>Orqentis listed in the Microsoft Fabric workload hub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PRODUCT · CONTRACT EDITOR</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Author ODCS contracts with AI assistance, not a wiki page.</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06 / 14</a:t>
            </a:r>
          </a:p>
        </p:txBody>
      </p:sp>
      <p:sp>
        <p:nvSpPr>
          <p:cNvPr id="9" name="Rounded Rectangle 8"/>
          <p:cNvSpPr/>
          <p:nvPr/>
        </p:nvSpPr>
        <p:spPr>
          <a:xfrm>
            <a:off x="640080" y="1737360"/>
            <a:ext cx="6949440" cy="4526280"/>
          </a:xfrm>
          <a:prstGeom prst="roundRect">
            <a:avLst>
              <a:gd name="adj" fmla="val 3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abric-contract-editor.png"/>
          <p:cNvPicPr>
            <a:picLocks noChangeAspect="1"/>
          </p:cNvPicPr>
          <p:nvPr/>
        </p:nvPicPr>
        <p:blipFill>
          <a:blip r:embed="rId2"/>
          <a:stretch>
            <a:fillRect/>
          </a:stretch>
        </p:blipFill>
        <p:spPr>
          <a:xfrm>
            <a:off x="1249315" y="1847088"/>
            <a:ext cx="5730969" cy="4014215"/>
          </a:xfrm>
          <a:prstGeom prst="rect">
            <a:avLst/>
          </a:prstGeom>
        </p:spPr>
      </p:pic>
      <p:sp>
        <p:nvSpPr>
          <p:cNvPr id="11" name="TextBox 10"/>
          <p:cNvSpPr txBox="1"/>
          <p:nvPr/>
        </p:nvSpPr>
        <p:spPr>
          <a:xfrm>
            <a:off x="749808" y="5952744"/>
            <a:ext cx="6729984" cy="256032"/>
          </a:xfrm>
          <a:prstGeom prst="rect">
            <a:avLst/>
          </a:prstGeom>
          <a:noFill/>
        </p:spPr>
        <p:txBody>
          <a:bodyPr wrap="square" lIns="0" rIns="0" tIns="0" bIns="0" anchor="t">
            <a:spAutoFit/>
          </a:bodyPr>
          <a:lstStyle/>
          <a:p>
            <a:pPr algn="ctr"/>
            <a:r>
              <a:rPr sz="1000" b="0">
                <a:solidFill>
                  <a:srgbClr val="6B7788"/>
                </a:solidFill>
                <a:latin typeface="Segoe UI"/>
              </a:rPr>
              <a:t>ODCS YAML editor with live JSON-Schema validation and AI suggest</a:t>
            </a:r>
          </a:p>
        </p:txBody>
      </p:sp>
      <p:sp>
        <p:nvSpPr>
          <p:cNvPr id="12" name="TextBox 11"/>
          <p:cNvSpPr txBox="1"/>
          <p:nvPr/>
        </p:nvSpPr>
        <p:spPr>
          <a:xfrm>
            <a:off x="7863840" y="1920240"/>
            <a:ext cx="3840480" cy="4114800"/>
          </a:xfrm>
          <a:prstGeom prst="rect">
            <a:avLst/>
          </a:prstGeom>
          <a:noFill/>
        </p:spPr>
        <p:txBody>
          <a:bodyPr wrap="square" lIns="0" rIns="0" tIns="0" bIns="0">
            <a:spAutoFit/>
          </a:bodyPr>
          <a:lstStyle/>
          <a:p>
            <a:pPr algn="l">
              <a:lnSpc>
                <a:spcPct val="115000"/>
              </a:lnSpc>
              <a:spcAft>
                <a:spcPts val="400"/>
              </a:spcAft>
            </a:pPr>
            <a:r>
              <a:rPr sz="1300" b="1">
                <a:solidFill>
                  <a:srgbClr val="1177D1"/>
                </a:solidFill>
                <a:latin typeface="Segoe UI"/>
              </a:rPr>
              <a:t>■ </a:t>
            </a:r>
            <a:r>
              <a:rPr sz="1300" b="1">
                <a:solidFill>
                  <a:srgbClr val="0B1F3A"/>
                </a:solidFill>
                <a:latin typeface="Segoe UI"/>
              </a:rPr>
              <a:t>Monaco + ODCS schema.  </a:t>
            </a:r>
            <a:r>
              <a:rPr sz="1300">
                <a:solidFill>
                  <a:srgbClr val="0B1F3A"/>
                </a:solidFill>
                <a:latin typeface="Segoe UI"/>
              </a:rPr>
              <a:t>Autocomplete, hover docs, inline lint.</a:t>
            </a:r>
          </a:p>
          <a:p>
            <a:pPr algn="l">
              <a:lnSpc>
                <a:spcPct val="115000"/>
              </a:lnSpc>
              <a:spcAft>
                <a:spcPts val="400"/>
              </a:spcAft>
            </a:pPr>
            <a:r>
              <a:rPr sz="1300" b="1">
                <a:solidFill>
                  <a:srgbClr val="1177D1"/>
                </a:solidFill>
                <a:latin typeface="Segoe UI"/>
              </a:rPr>
              <a:t>■ </a:t>
            </a:r>
            <a:r>
              <a:rPr sz="1300" b="1">
                <a:solidFill>
                  <a:srgbClr val="0B1F3A"/>
                </a:solidFill>
                <a:latin typeface="Segoe UI"/>
              </a:rPr>
              <a:t>AI suggest.  </a:t>
            </a:r>
            <a:r>
              <a:rPr sz="1300">
                <a:solidFill>
                  <a:srgbClr val="0B1F3A"/>
                </a:solidFill>
                <a:latin typeface="Segoe UI"/>
              </a:rPr>
              <a:t>GPT-4o reads a sample of the target Delta table and proposes schema, quality, and PII rules.</a:t>
            </a:r>
          </a:p>
          <a:p>
            <a:pPr algn="l">
              <a:lnSpc>
                <a:spcPct val="115000"/>
              </a:lnSpc>
              <a:spcAft>
                <a:spcPts val="400"/>
              </a:spcAft>
            </a:pPr>
            <a:r>
              <a:rPr sz="1300" b="1">
                <a:solidFill>
                  <a:srgbClr val="1177D1"/>
                </a:solidFill>
                <a:latin typeface="Segoe UI"/>
              </a:rPr>
              <a:t>■ </a:t>
            </a:r>
            <a:r>
              <a:rPr sz="1300" b="1">
                <a:solidFill>
                  <a:srgbClr val="0B1F3A"/>
                </a:solidFill>
                <a:latin typeface="Segoe UI"/>
              </a:rPr>
              <a:t>Diff &amp; review.  </a:t>
            </a:r>
            <a:r>
              <a:rPr sz="1300">
                <a:solidFill>
                  <a:srgbClr val="0B1F3A"/>
                </a:solidFill>
                <a:latin typeface="Segoe UI"/>
              </a:rPr>
              <a:t>Drift detection vs. the previous active contract version.</a:t>
            </a:r>
          </a:p>
          <a:p>
            <a:pPr algn="l">
              <a:lnSpc>
                <a:spcPct val="115000"/>
              </a:lnSpc>
              <a:spcAft>
                <a:spcPts val="400"/>
              </a:spcAft>
            </a:pPr>
            <a:r>
              <a:rPr sz="1300" b="1">
                <a:solidFill>
                  <a:srgbClr val="1177D1"/>
                </a:solidFill>
                <a:latin typeface="Segoe UI"/>
              </a:rPr>
              <a:t>■ </a:t>
            </a:r>
            <a:r>
              <a:rPr sz="1300" b="1">
                <a:solidFill>
                  <a:srgbClr val="0B1F3A"/>
                </a:solidFill>
                <a:latin typeface="Segoe UI"/>
              </a:rPr>
              <a:t>Multi-target.  </a:t>
            </a:r>
            <a:r>
              <a:rPr sz="1300">
                <a:solidFill>
                  <a:srgbClr val="0B1F3A"/>
                </a:solidFill>
                <a:latin typeface="Segoe UI"/>
              </a:rPr>
              <a:t>Lakehouse, Warehouse, Eventhouse, Semantic model, Fabric SQL.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PRODUCT · ENFORCEMENT</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Enforcement runs in &lt;60s, with explainable violations.</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07 / 14</a:t>
            </a:r>
          </a:p>
        </p:txBody>
      </p:sp>
      <p:sp>
        <p:nvSpPr>
          <p:cNvPr id="9" name="Rounded Rectangle 8"/>
          <p:cNvSpPr/>
          <p:nvPr/>
        </p:nvSpPr>
        <p:spPr>
          <a:xfrm>
            <a:off x="640080" y="1783080"/>
            <a:ext cx="5486400" cy="4434840"/>
          </a:xfrm>
          <a:prstGeom prst="roundRect">
            <a:avLst>
              <a:gd name="adj" fmla="val 3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5-run-now-final.png"/>
          <p:cNvPicPr>
            <a:picLocks noChangeAspect="1"/>
          </p:cNvPicPr>
          <p:nvPr/>
        </p:nvPicPr>
        <p:blipFill>
          <a:blip r:embed="rId2"/>
          <a:stretch>
            <a:fillRect/>
          </a:stretch>
        </p:blipFill>
        <p:spPr>
          <a:xfrm>
            <a:off x="749808" y="2208083"/>
            <a:ext cx="5266944" cy="3292225"/>
          </a:xfrm>
          <a:prstGeom prst="rect">
            <a:avLst/>
          </a:prstGeom>
        </p:spPr>
      </p:pic>
      <p:sp>
        <p:nvSpPr>
          <p:cNvPr id="11" name="TextBox 10"/>
          <p:cNvSpPr txBox="1"/>
          <p:nvPr/>
        </p:nvSpPr>
        <p:spPr>
          <a:xfrm>
            <a:off x="749808" y="5907024"/>
            <a:ext cx="5266944" cy="256032"/>
          </a:xfrm>
          <a:prstGeom prst="rect">
            <a:avLst/>
          </a:prstGeom>
          <a:noFill/>
        </p:spPr>
        <p:txBody>
          <a:bodyPr wrap="square" lIns="0" rIns="0" tIns="0" bIns="0" anchor="t">
            <a:spAutoFit/>
          </a:bodyPr>
          <a:lstStyle/>
          <a:p>
            <a:pPr algn="ctr"/>
            <a:r>
              <a:rPr sz="1000" b="0">
                <a:solidFill>
                  <a:srgbClr val="6B7788"/>
                </a:solidFill>
                <a:latin typeface="Segoe UI"/>
              </a:rPr>
              <a:t>Run-now: schema, quality, freshness, PII results in one view</a:t>
            </a:r>
          </a:p>
        </p:txBody>
      </p:sp>
      <p:sp>
        <p:nvSpPr>
          <p:cNvPr id="12" name="Rounded Rectangle 11"/>
          <p:cNvSpPr/>
          <p:nvPr/>
        </p:nvSpPr>
        <p:spPr>
          <a:xfrm>
            <a:off x="6263640" y="1783080"/>
            <a:ext cx="5486400" cy="4434840"/>
          </a:xfrm>
          <a:prstGeom prst="roundRect">
            <a:avLst>
              <a:gd name="adj" fmla="val 3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50-lakehouse-more-data.png"/>
          <p:cNvPicPr>
            <a:picLocks noChangeAspect="1"/>
          </p:cNvPicPr>
          <p:nvPr/>
        </p:nvPicPr>
        <p:blipFill>
          <a:blip r:embed="rId3"/>
          <a:stretch>
            <a:fillRect/>
          </a:stretch>
        </p:blipFill>
        <p:spPr>
          <a:xfrm>
            <a:off x="6373368" y="2208083"/>
            <a:ext cx="5266944" cy="3292225"/>
          </a:xfrm>
          <a:prstGeom prst="rect">
            <a:avLst/>
          </a:prstGeom>
        </p:spPr>
      </p:pic>
      <p:sp>
        <p:nvSpPr>
          <p:cNvPr id="14" name="TextBox 13"/>
          <p:cNvSpPr txBox="1"/>
          <p:nvPr/>
        </p:nvSpPr>
        <p:spPr>
          <a:xfrm>
            <a:off x="6373368" y="5907024"/>
            <a:ext cx="5266944" cy="256032"/>
          </a:xfrm>
          <a:prstGeom prst="rect">
            <a:avLst/>
          </a:prstGeom>
          <a:noFill/>
        </p:spPr>
        <p:txBody>
          <a:bodyPr wrap="square" lIns="0" rIns="0" tIns="0" bIns="0" anchor="t">
            <a:spAutoFit/>
          </a:bodyPr>
          <a:lstStyle/>
          <a:p>
            <a:pPr algn="ctr"/>
            <a:r>
              <a:rPr sz="1000" b="0">
                <a:solidFill>
                  <a:srgbClr val="6B7788"/>
                </a:solidFill>
                <a:latin typeface="Segoe UI"/>
              </a:rPr>
              <a:t>Delta table on OneLake — evaluated in-place, no data movement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PRODUCT · GOVERNANCE</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Policies, reports, and Activator-grade alerts.</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08 / 14</a:t>
            </a:r>
          </a:p>
        </p:txBody>
      </p:sp>
      <p:sp>
        <p:nvSpPr>
          <p:cNvPr id="9" name="Rounded Rectangle 8"/>
          <p:cNvSpPr/>
          <p:nvPr/>
        </p:nvSpPr>
        <p:spPr>
          <a:xfrm>
            <a:off x="457200" y="1783080"/>
            <a:ext cx="3794760" cy="4434840"/>
          </a:xfrm>
          <a:prstGeom prst="roundRect">
            <a:avLst>
              <a:gd name="adj" fmla="val 3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30b-policy-wizard-clean.png"/>
          <p:cNvPicPr>
            <a:picLocks noChangeAspect="1"/>
          </p:cNvPicPr>
          <p:nvPr/>
        </p:nvPicPr>
        <p:blipFill>
          <a:blip r:embed="rId2"/>
          <a:stretch>
            <a:fillRect/>
          </a:stretch>
        </p:blipFill>
        <p:spPr>
          <a:xfrm>
            <a:off x="566928" y="2736783"/>
            <a:ext cx="3575304" cy="2234826"/>
          </a:xfrm>
          <a:prstGeom prst="rect">
            <a:avLst/>
          </a:prstGeom>
        </p:spPr>
      </p:pic>
      <p:sp>
        <p:nvSpPr>
          <p:cNvPr id="11" name="TextBox 10"/>
          <p:cNvSpPr txBox="1"/>
          <p:nvPr/>
        </p:nvSpPr>
        <p:spPr>
          <a:xfrm>
            <a:off x="566928" y="5907024"/>
            <a:ext cx="3575304" cy="256032"/>
          </a:xfrm>
          <a:prstGeom prst="rect">
            <a:avLst/>
          </a:prstGeom>
          <a:noFill/>
        </p:spPr>
        <p:txBody>
          <a:bodyPr wrap="square" lIns="0" rIns="0" tIns="0" bIns="0" anchor="t">
            <a:spAutoFit/>
          </a:bodyPr>
          <a:lstStyle/>
          <a:p>
            <a:pPr algn="ctr"/>
            <a:r>
              <a:rPr sz="1000" b="0">
                <a:solidFill>
                  <a:srgbClr val="6B7788"/>
                </a:solidFill>
                <a:latin typeface="Segoe UI"/>
              </a:rPr>
              <a:t>Policy wizard — block, warn, or quarantine on violation</a:t>
            </a:r>
          </a:p>
        </p:txBody>
      </p:sp>
      <p:sp>
        <p:nvSpPr>
          <p:cNvPr id="12" name="Rounded Rectangle 11"/>
          <p:cNvSpPr/>
          <p:nvPr/>
        </p:nvSpPr>
        <p:spPr>
          <a:xfrm>
            <a:off x="4370832" y="1783080"/>
            <a:ext cx="3794760" cy="4434840"/>
          </a:xfrm>
          <a:prstGeom prst="roundRect">
            <a:avLst>
              <a:gd name="adj" fmla="val 3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bric-contract-report.png"/>
          <p:cNvPicPr>
            <a:picLocks noChangeAspect="1"/>
          </p:cNvPicPr>
          <p:nvPr/>
        </p:nvPicPr>
        <p:blipFill>
          <a:blip r:embed="rId3"/>
          <a:stretch>
            <a:fillRect/>
          </a:stretch>
        </p:blipFill>
        <p:spPr>
          <a:xfrm>
            <a:off x="4480560" y="2523503"/>
            <a:ext cx="3575304" cy="2661386"/>
          </a:xfrm>
          <a:prstGeom prst="rect">
            <a:avLst/>
          </a:prstGeom>
        </p:spPr>
      </p:pic>
      <p:sp>
        <p:nvSpPr>
          <p:cNvPr id="14" name="TextBox 13"/>
          <p:cNvSpPr txBox="1"/>
          <p:nvPr/>
        </p:nvSpPr>
        <p:spPr>
          <a:xfrm>
            <a:off x="4480560" y="5907024"/>
            <a:ext cx="3575304" cy="256032"/>
          </a:xfrm>
          <a:prstGeom prst="rect">
            <a:avLst/>
          </a:prstGeom>
          <a:noFill/>
        </p:spPr>
        <p:txBody>
          <a:bodyPr wrap="square" lIns="0" rIns="0" tIns="0" bIns="0" anchor="t">
            <a:spAutoFit/>
          </a:bodyPr>
          <a:lstStyle/>
          <a:p>
            <a:pPr algn="ctr"/>
            <a:r>
              <a:rPr sz="1000" b="0">
                <a:solidFill>
                  <a:srgbClr val="6B7788"/>
                </a:solidFill>
                <a:latin typeface="Segoe UI"/>
              </a:rPr>
              <a:t>Contract report — drill-down by table, rule, run</a:t>
            </a:r>
          </a:p>
        </p:txBody>
      </p:sp>
      <p:sp>
        <p:nvSpPr>
          <p:cNvPr id="15" name="Rounded Rectangle 14"/>
          <p:cNvSpPr/>
          <p:nvPr/>
        </p:nvSpPr>
        <p:spPr>
          <a:xfrm>
            <a:off x="8275320" y="1783080"/>
            <a:ext cx="3657600" cy="4434840"/>
          </a:xfrm>
          <a:prstGeom prst="roundRect">
            <a:avLst>
              <a:gd name="adj" fmla="val 3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lerts-dashboard.png"/>
          <p:cNvPicPr>
            <a:picLocks noChangeAspect="1"/>
          </p:cNvPicPr>
          <p:nvPr/>
        </p:nvPicPr>
        <p:blipFill>
          <a:blip r:embed="rId4"/>
          <a:stretch>
            <a:fillRect/>
          </a:stretch>
        </p:blipFill>
        <p:spPr>
          <a:xfrm>
            <a:off x="8385048" y="2851404"/>
            <a:ext cx="3438144" cy="2005584"/>
          </a:xfrm>
          <a:prstGeom prst="rect">
            <a:avLst/>
          </a:prstGeom>
        </p:spPr>
      </p:pic>
      <p:sp>
        <p:nvSpPr>
          <p:cNvPr id="17" name="TextBox 16"/>
          <p:cNvSpPr txBox="1"/>
          <p:nvPr/>
        </p:nvSpPr>
        <p:spPr>
          <a:xfrm>
            <a:off x="8385048" y="5907024"/>
            <a:ext cx="3438144" cy="256032"/>
          </a:xfrm>
          <a:prstGeom prst="rect">
            <a:avLst/>
          </a:prstGeom>
          <a:noFill/>
        </p:spPr>
        <p:txBody>
          <a:bodyPr wrap="square" lIns="0" rIns="0" tIns="0" bIns="0" anchor="t">
            <a:spAutoFit/>
          </a:bodyPr>
          <a:lstStyle/>
          <a:p>
            <a:pPr algn="ctr"/>
            <a:r>
              <a:rPr sz="1000" b="0">
                <a:solidFill>
                  <a:srgbClr val="6B7788"/>
                </a:solidFill>
                <a:latin typeface="Segoe UI"/>
              </a:rPr>
              <a:t>Alerts dashboard with Activator + Teams + Jira routing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ARCHITECTURE</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How it works.</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09 / 14</a:t>
            </a:r>
          </a:p>
        </p:txBody>
      </p:sp>
      <p:sp>
        <p:nvSpPr>
          <p:cNvPr id="9" name="Rounded Rectangle 8"/>
          <p:cNvSpPr/>
          <p:nvPr/>
        </p:nvSpPr>
        <p:spPr>
          <a:xfrm>
            <a:off x="457200" y="2194560"/>
            <a:ext cx="2148840" cy="182880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94560"/>
            <a:ext cx="2148840" cy="41148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94560"/>
            <a:ext cx="2148840" cy="411480"/>
          </a:xfrm>
          <a:prstGeom prst="rect">
            <a:avLst/>
          </a:prstGeom>
          <a:noFill/>
        </p:spPr>
        <p:txBody>
          <a:bodyPr wrap="square" lIns="0" rIns="0" tIns="0" bIns="0" anchor="ctr">
            <a:spAutoFit/>
          </a:bodyPr>
          <a:lstStyle/>
          <a:p>
            <a:pPr algn="ctr"/>
            <a:r>
              <a:rPr sz="1300" b="1">
                <a:solidFill>
                  <a:srgbClr val="FFFFFF"/>
                </a:solidFill>
                <a:latin typeface="Segoe UI"/>
              </a:rPr>
              <a:t>Fabric Portal</a:t>
            </a:r>
          </a:p>
        </p:txBody>
      </p:sp>
      <p:sp>
        <p:nvSpPr>
          <p:cNvPr id="12" name="TextBox 11"/>
          <p:cNvSpPr txBox="1"/>
          <p:nvPr/>
        </p:nvSpPr>
        <p:spPr>
          <a:xfrm>
            <a:off x="621792" y="2697480"/>
            <a:ext cx="1819656" cy="1280160"/>
          </a:xfrm>
          <a:prstGeom prst="rect">
            <a:avLst/>
          </a:prstGeom>
          <a:noFill/>
        </p:spPr>
        <p:txBody>
          <a:bodyPr wrap="square" lIns="0" rIns="0" tIns="0" bIns="0" anchor="t">
            <a:spAutoFit/>
          </a:bodyPr>
          <a:lstStyle/>
          <a:p>
            <a:pPr algn="l"/>
            <a:r>
              <a:rPr sz="1100" b="0">
                <a:solidFill>
                  <a:srgbClr val="334E68"/>
                </a:solidFill>
                <a:latin typeface="Segoe UI"/>
              </a:rPr>
              <a:t>React 18 · Fluent v9</a:t>
            </a:r>
          </a:p>
          <a:p>
            <a:pPr algn="l"/>
            <a:r>
              <a:rPr sz="1100" b="0">
                <a:solidFill>
                  <a:srgbClr val="334E68"/>
                </a:solidFill>
                <a:latin typeface="Segoe UI"/>
              </a:rPr>
              <a:t>@ms-fabric/workload-client</a:t>
            </a:r>
          </a:p>
        </p:txBody>
      </p:sp>
      <p:sp>
        <p:nvSpPr>
          <p:cNvPr id="13" name="Right Arrow 12"/>
          <p:cNvSpPr/>
          <p:nvPr/>
        </p:nvSpPr>
        <p:spPr>
          <a:xfrm>
            <a:off x="2624328" y="2999232"/>
            <a:ext cx="228600" cy="219456"/>
          </a:xfrm>
          <a:prstGeom prst="rightArrow">
            <a:avLst/>
          </a:prstGeom>
          <a:solidFill>
            <a:srgbClr val="334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52928" y="2194560"/>
            <a:ext cx="2148840" cy="182880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52928" y="2194560"/>
            <a:ext cx="2148840" cy="411480"/>
          </a:xfrm>
          <a:prstGeom prst="rect">
            <a:avLst/>
          </a:prstGeom>
          <a:solidFill>
            <a:srgbClr val="0B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52928" y="2194560"/>
            <a:ext cx="2148840" cy="411480"/>
          </a:xfrm>
          <a:prstGeom prst="rect">
            <a:avLst/>
          </a:prstGeom>
          <a:noFill/>
        </p:spPr>
        <p:txBody>
          <a:bodyPr wrap="square" lIns="0" rIns="0" tIns="0" bIns="0" anchor="ctr">
            <a:spAutoFit/>
          </a:bodyPr>
          <a:lstStyle/>
          <a:p>
            <a:pPr algn="ctr"/>
            <a:r>
              <a:rPr sz="1300" b="1">
                <a:solidFill>
                  <a:srgbClr val="FFFFFF"/>
                </a:solidFill>
                <a:latin typeface="Segoe UI"/>
              </a:rPr>
              <a:t>Orqentis API</a:t>
            </a:r>
          </a:p>
        </p:txBody>
      </p:sp>
      <p:sp>
        <p:nvSpPr>
          <p:cNvPr id="17" name="TextBox 16"/>
          <p:cNvSpPr txBox="1"/>
          <p:nvPr/>
        </p:nvSpPr>
        <p:spPr>
          <a:xfrm>
            <a:off x="3017520" y="2697480"/>
            <a:ext cx="1819656" cy="1280160"/>
          </a:xfrm>
          <a:prstGeom prst="rect">
            <a:avLst/>
          </a:prstGeom>
          <a:noFill/>
        </p:spPr>
        <p:txBody>
          <a:bodyPr wrap="square" lIns="0" rIns="0" tIns="0" bIns="0" anchor="t">
            <a:spAutoFit/>
          </a:bodyPr>
          <a:lstStyle/>
          <a:p>
            <a:pPr algn="l"/>
            <a:r>
              <a:rPr sz="1100" b="0">
                <a:solidFill>
                  <a:srgbClr val="334E68"/>
                </a:solidFill>
                <a:latin typeface="Segoe UI"/>
              </a:rPr>
              <a:t>.NET 8 · ASP.NET Core</a:t>
            </a:r>
          </a:p>
          <a:p>
            <a:pPr algn="l"/>
            <a:r>
              <a:rPr sz="1100" b="0">
                <a:solidFill>
                  <a:srgbClr val="334E68"/>
                </a:solidFill>
                <a:latin typeface="Segoe UI"/>
              </a:rPr>
              <a:t>EF Core · Hangfire</a:t>
            </a:r>
          </a:p>
        </p:txBody>
      </p:sp>
      <p:sp>
        <p:nvSpPr>
          <p:cNvPr id="18" name="Right Arrow 17"/>
          <p:cNvSpPr/>
          <p:nvPr/>
        </p:nvSpPr>
        <p:spPr>
          <a:xfrm>
            <a:off x="5020056" y="2999232"/>
            <a:ext cx="228600" cy="219456"/>
          </a:xfrm>
          <a:prstGeom prst="rightArrow">
            <a:avLst/>
          </a:prstGeom>
          <a:solidFill>
            <a:srgbClr val="334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48656" y="2194560"/>
            <a:ext cx="2148840" cy="182880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48656" y="2194560"/>
            <a:ext cx="2148840" cy="411480"/>
          </a:xfrm>
          <a:prstGeom prst="rect">
            <a:avLst/>
          </a:prstGeom>
          <a:solidFill>
            <a:srgbClr val="12B7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6" y="2194560"/>
            <a:ext cx="2148840" cy="411480"/>
          </a:xfrm>
          <a:prstGeom prst="rect">
            <a:avLst/>
          </a:prstGeom>
          <a:noFill/>
        </p:spPr>
        <p:txBody>
          <a:bodyPr wrap="square" lIns="0" rIns="0" tIns="0" bIns="0" anchor="ctr">
            <a:spAutoFit/>
          </a:bodyPr>
          <a:lstStyle/>
          <a:p>
            <a:pPr algn="ctr"/>
            <a:r>
              <a:rPr sz="1300" b="1">
                <a:solidFill>
                  <a:srgbClr val="FFFFFF"/>
                </a:solidFill>
                <a:latin typeface="Segoe UI"/>
              </a:rPr>
              <a:t>Engine + AI</a:t>
            </a:r>
          </a:p>
        </p:txBody>
      </p:sp>
      <p:sp>
        <p:nvSpPr>
          <p:cNvPr id="22" name="TextBox 21"/>
          <p:cNvSpPr txBox="1"/>
          <p:nvPr/>
        </p:nvSpPr>
        <p:spPr>
          <a:xfrm>
            <a:off x="5413248" y="2697480"/>
            <a:ext cx="1819656" cy="1280160"/>
          </a:xfrm>
          <a:prstGeom prst="rect">
            <a:avLst/>
          </a:prstGeom>
          <a:noFill/>
        </p:spPr>
        <p:txBody>
          <a:bodyPr wrap="square" lIns="0" rIns="0" tIns="0" bIns="0" anchor="t">
            <a:spAutoFit/>
          </a:bodyPr>
          <a:lstStyle/>
          <a:p>
            <a:pPr algn="l"/>
            <a:r>
              <a:rPr sz="1100" b="0">
                <a:solidFill>
                  <a:srgbClr val="334E68"/>
                </a:solidFill>
                <a:latin typeface="Segoe UI"/>
              </a:rPr>
              <a:t>ODCS validator</a:t>
            </a:r>
          </a:p>
          <a:p>
            <a:pPr algn="l"/>
            <a:r>
              <a:rPr sz="1100" b="0">
                <a:solidFill>
                  <a:srgbClr val="334E68"/>
                </a:solidFill>
                <a:latin typeface="Segoe UI"/>
              </a:rPr>
              <a:t>Azure OpenAI GPT-4o</a:t>
            </a:r>
          </a:p>
          <a:p>
            <a:pPr algn="l"/>
            <a:r>
              <a:rPr sz="1100" b="0">
                <a:solidFill>
                  <a:srgbClr val="334E68"/>
                </a:solidFill>
                <a:latin typeface="Segoe UI"/>
              </a:rPr>
              <a:t>Claude 3.7 fallback</a:t>
            </a:r>
          </a:p>
        </p:txBody>
      </p:sp>
      <p:sp>
        <p:nvSpPr>
          <p:cNvPr id="23" name="Right Arrow 22"/>
          <p:cNvSpPr/>
          <p:nvPr/>
        </p:nvSpPr>
        <p:spPr>
          <a:xfrm>
            <a:off x="7415784" y="2999232"/>
            <a:ext cx="228600" cy="219456"/>
          </a:xfrm>
          <a:prstGeom prst="rightArrow">
            <a:avLst/>
          </a:prstGeom>
          <a:solidFill>
            <a:srgbClr val="334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644384" y="2194560"/>
            <a:ext cx="2148840" cy="182880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44384" y="2194560"/>
            <a:ext cx="2148840" cy="41148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44384" y="2194560"/>
            <a:ext cx="2148840" cy="411480"/>
          </a:xfrm>
          <a:prstGeom prst="rect">
            <a:avLst/>
          </a:prstGeom>
          <a:noFill/>
        </p:spPr>
        <p:txBody>
          <a:bodyPr wrap="square" lIns="0" rIns="0" tIns="0" bIns="0" anchor="ctr">
            <a:spAutoFit/>
          </a:bodyPr>
          <a:lstStyle/>
          <a:p>
            <a:pPr algn="ctr"/>
            <a:r>
              <a:rPr sz="1300" b="1">
                <a:solidFill>
                  <a:srgbClr val="FFFFFF"/>
                </a:solidFill>
                <a:latin typeface="Segoe UI"/>
              </a:rPr>
              <a:t>OneLake (Delta)</a:t>
            </a:r>
          </a:p>
        </p:txBody>
      </p:sp>
      <p:sp>
        <p:nvSpPr>
          <p:cNvPr id="27" name="TextBox 26"/>
          <p:cNvSpPr txBox="1"/>
          <p:nvPr/>
        </p:nvSpPr>
        <p:spPr>
          <a:xfrm>
            <a:off x="7808976" y="2697480"/>
            <a:ext cx="1819656" cy="1280160"/>
          </a:xfrm>
          <a:prstGeom prst="rect">
            <a:avLst/>
          </a:prstGeom>
          <a:noFill/>
        </p:spPr>
        <p:txBody>
          <a:bodyPr wrap="square" lIns="0" rIns="0" tIns="0" bIns="0" anchor="t">
            <a:spAutoFit/>
          </a:bodyPr>
          <a:lstStyle/>
          <a:p>
            <a:pPr algn="l"/>
            <a:r>
              <a:rPr sz="1100" b="0">
                <a:solidFill>
                  <a:srgbClr val="334E68"/>
                </a:solidFill>
                <a:latin typeface="Segoe UI"/>
              </a:rPr>
              <a:t>OBO token</a:t>
            </a:r>
          </a:p>
          <a:p>
            <a:pPr algn="l"/>
            <a:r>
              <a:rPr sz="1100" b="0">
                <a:solidFill>
                  <a:srgbClr val="334E68"/>
                </a:solidFill>
                <a:latin typeface="Segoe UI"/>
              </a:rPr>
              <a:t>Delta log reader</a:t>
            </a:r>
          </a:p>
          <a:p>
            <a:pPr algn="l"/>
            <a:r>
              <a:rPr sz="1100" b="0">
                <a:solidFill>
                  <a:srgbClr val="334E68"/>
                </a:solidFill>
                <a:latin typeface="Segoe UI"/>
              </a:rPr>
              <a:t>Zero data movement</a:t>
            </a:r>
          </a:p>
        </p:txBody>
      </p:sp>
      <p:sp>
        <p:nvSpPr>
          <p:cNvPr id="28" name="Right Arrow 27"/>
          <p:cNvSpPr/>
          <p:nvPr/>
        </p:nvSpPr>
        <p:spPr>
          <a:xfrm>
            <a:off x="9811512" y="2999232"/>
            <a:ext cx="228600" cy="219456"/>
          </a:xfrm>
          <a:prstGeom prst="rightArrow">
            <a:avLst/>
          </a:prstGeom>
          <a:solidFill>
            <a:srgbClr val="334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40112" y="2194560"/>
            <a:ext cx="2148840" cy="182880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40112" y="2194560"/>
            <a:ext cx="2148840" cy="411480"/>
          </a:xfrm>
          <a:prstGeom prst="rect">
            <a:avLst/>
          </a:prstGeom>
          <a:solidFill>
            <a:srgbClr val="E04B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40112" y="2194560"/>
            <a:ext cx="2148840" cy="411480"/>
          </a:xfrm>
          <a:prstGeom prst="rect">
            <a:avLst/>
          </a:prstGeom>
          <a:noFill/>
        </p:spPr>
        <p:txBody>
          <a:bodyPr wrap="square" lIns="0" rIns="0" tIns="0" bIns="0" anchor="ctr">
            <a:spAutoFit/>
          </a:bodyPr>
          <a:lstStyle/>
          <a:p>
            <a:pPr algn="ctr"/>
            <a:r>
              <a:rPr sz="1300" b="1">
                <a:solidFill>
                  <a:srgbClr val="FFFFFF"/>
                </a:solidFill>
                <a:latin typeface="Segoe UI"/>
              </a:rPr>
              <a:t>Activator + Teams</a:t>
            </a:r>
          </a:p>
        </p:txBody>
      </p:sp>
      <p:sp>
        <p:nvSpPr>
          <p:cNvPr id="32" name="TextBox 31"/>
          <p:cNvSpPr txBox="1"/>
          <p:nvPr/>
        </p:nvSpPr>
        <p:spPr>
          <a:xfrm>
            <a:off x="10204704" y="2697480"/>
            <a:ext cx="1819656" cy="1280160"/>
          </a:xfrm>
          <a:prstGeom prst="rect">
            <a:avLst/>
          </a:prstGeom>
          <a:noFill/>
        </p:spPr>
        <p:txBody>
          <a:bodyPr wrap="square" lIns="0" rIns="0" tIns="0" bIns="0" anchor="t">
            <a:spAutoFit/>
          </a:bodyPr>
          <a:lstStyle/>
          <a:p>
            <a:pPr algn="l"/>
            <a:r>
              <a:rPr sz="1100" b="0">
                <a:solidFill>
                  <a:srgbClr val="334E68"/>
                </a:solidFill>
                <a:latin typeface="Segoe UI"/>
              </a:rPr>
              <a:t>Webhooks</a:t>
            </a:r>
          </a:p>
          <a:p>
            <a:pPr algn="l"/>
            <a:r>
              <a:rPr sz="1100" b="0">
                <a:solidFill>
                  <a:srgbClr val="334E68"/>
                </a:solidFill>
                <a:latin typeface="Segoe UI"/>
              </a:rPr>
              <a:t>Jira · ServiceNow</a:t>
            </a:r>
          </a:p>
          <a:p>
            <a:pPr algn="l"/>
            <a:r>
              <a:rPr sz="1100" b="0">
                <a:solidFill>
                  <a:srgbClr val="334E68"/>
                </a:solidFill>
                <a:latin typeface="Segoe UI"/>
              </a:rPr>
              <a:t>Audit log</a:t>
            </a:r>
          </a:p>
        </p:txBody>
      </p:sp>
      <p:sp>
        <p:nvSpPr>
          <p:cNvPr id="33" name="Rounded Rectangle 32"/>
          <p:cNvSpPr/>
          <p:nvPr/>
        </p:nvSpPr>
        <p:spPr>
          <a:xfrm>
            <a:off x="457200" y="4434840"/>
            <a:ext cx="11292840" cy="1783080"/>
          </a:xfrm>
          <a:prstGeom prst="roundRect">
            <a:avLst>
              <a:gd name="adj" fmla="val 6000"/>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599432"/>
            <a:ext cx="10058400" cy="365760"/>
          </a:xfrm>
          <a:prstGeom prst="rect">
            <a:avLst/>
          </a:prstGeom>
          <a:noFill/>
        </p:spPr>
        <p:txBody>
          <a:bodyPr wrap="square" lIns="0" rIns="0" tIns="0" bIns="0" anchor="t">
            <a:spAutoFit/>
          </a:bodyPr>
          <a:lstStyle/>
          <a:p>
            <a:pPr algn="l"/>
            <a:r>
              <a:rPr sz="1300" b="1">
                <a:solidFill>
                  <a:srgbClr val="0B1F3A"/>
                </a:solidFill>
                <a:latin typeface="Segoe UI"/>
              </a:rPr>
              <a:t>Built-in guarantees</a:t>
            </a:r>
          </a:p>
        </p:txBody>
      </p:sp>
      <p:sp>
        <p:nvSpPr>
          <p:cNvPr id="35" name="TextBox 34"/>
          <p:cNvSpPr txBox="1"/>
          <p:nvPr/>
        </p:nvSpPr>
        <p:spPr>
          <a:xfrm>
            <a:off x="777240" y="4983480"/>
            <a:ext cx="10515600" cy="1188720"/>
          </a:xfrm>
          <a:prstGeom prst="rect">
            <a:avLst/>
          </a:prstGeom>
          <a:noFill/>
        </p:spPr>
        <p:txBody>
          <a:bodyPr wrap="square" lIns="0" rIns="0" tIns="0" bIns="0">
            <a:spAutoFit/>
          </a:bodyPr>
          <a:lstStyle/>
          <a:p>
            <a:pPr algn="l">
              <a:lnSpc>
                <a:spcPct val="115000"/>
              </a:lnSpc>
              <a:spcAft>
                <a:spcPts val="400"/>
              </a:spcAft>
            </a:pPr>
            <a:r>
              <a:rPr sz="1100" b="1">
                <a:solidFill>
                  <a:srgbClr val="1177D1"/>
                </a:solidFill>
                <a:latin typeface="Segoe UI"/>
              </a:rPr>
              <a:t>■  </a:t>
            </a:r>
            <a:r>
              <a:rPr sz="1100">
                <a:solidFill>
                  <a:srgbClr val="0B1F3A"/>
                </a:solidFill>
                <a:latin typeface="Segoe UI"/>
              </a:rPr>
              <a:t>OBO-only OneLake access — application identity is forbidden on the data plane.</a:t>
            </a:r>
          </a:p>
          <a:p>
            <a:pPr algn="l">
              <a:lnSpc>
                <a:spcPct val="115000"/>
              </a:lnSpc>
              <a:spcAft>
                <a:spcPts val="400"/>
              </a:spcAft>
            </a:pPr>
            <a:r>
              <a:rPr sz="1100" b="1">
                <a:solidFill>
                  <a:srgbClr val="1177D1"/>
                </a:solidFill>
                <a:latin typeface="Segoe UI"/>
              </a:rPr>
              <a:t>■  </a:t>
            </a:r>
            <a:r>
              <a:rPr sz="1100">
                <a:solidFill>
                  <a:srgbClr val="0B1F3A"/>
                </a:solidFill>
                <a:latin typeface="Segoe UI"/>
              </a:rPr>
              <a:t>Soft-delete + UTC + correlation-id on every API call, log, and webhook.</a:t>
            </a:r>
          </a:p>
          <a:p>
            <a:pPr algn="l">
              <a:lnSpc>
                <a:spcPct val="115000"/>
              </a:lnSpc>
              <a:spcAft>
                <a:spcPts val="400"/>
              </a:spcAft>
            </a:pPr>
            <a:r>
              <a:rPr sz="1100" b="1">
                <a:solidFill>
                  <a:srgbClr val="1177D1"/>
                </a:solidFill>
                <a:latin typeface="Segoe UI"/>
              </a:rPr>
              <a:t>■  </a:t>
            </a:r>
            <a:r>
              <a:rPr sz="1100">
                <a:solidFill>
                  <a:srgbClr val="0B1F3A"/>
                </a:solidFill>
                <a:latin typeface="Segoe UI"/>
              </a:rPr>
              <a:t>ODCS v3.1.0 JSON-Schema validator is authoritative; nothing persists active without passing.</a:t>
            </a:r>
          </a:p>
          <a:p>
            <a:pPr algn="l">
              <a:lnSpc>
                <a:spcPct val="115000"/>
              </a:lnSpc>
              <a:spcAft>
                <a:spcPts val="400"/>
              </a:spcAft>
            </a:pPr>
            <a:r>
              <a:rPr sz="1100" b="1">
                <a:solidFill>
                  <a:srgbClr val="1177D1"/>
                </a:solidFill>
                <a:latin typeface="Segoe UI"/>
              </a:rPr>
              <a:t>■  </a:t>
            </a:r>
            <a:r>
              <a:rPr sz="1100">
                <a:solidFill>
                  <a:srgbClr val="0B1F3A"/>
                </a:solidFill>
                <a:latin typeface="Segoe UI"/>
              </a:rPr>
              <a:t>All LLM calls wrapped in 15s timeout + 3-retry Polly + empty-template fallback.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DIFFERENTIATION</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Why Orqentis wins where catalogs fail.</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10 / 14</a:t>
            </a:r>
          </a:p>
        </p:txBody>
      </p:sp>
      <p:sp>
        <p:nvSpPr>
          <p:cNvPr id="9" name="Rectangle 8"/>
          <p:cNvSpPr/>
          <p:nvPr/>
        </p:nvSpPr>
        <p:spPr>
          <a:xfrm>
            <a:off x="502920" y="1828800"/>
            <a:ext cx="2926080" cy="5029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28800"/>
            <a:ext cx="2926080" cy="502920"/>
          </a:xfrm>
          <a:prstGeom prst="rect">
            <a:avLst/>
          </a:prstGeom>
          <a:noFill/>
        </p:spPr>
        <p:txBody>
          <a:bodyPr wrap="square" lIns="0" rIns="0" tIns="0" bIns="0" anchor="ctr">
            <a:spAutoFit/>
          </a:bodyPr>
          <a:lstStyle/>
          <a:p>
            <a:pPr algn="ctr"/>
            <a:r>
              <a:rPr sz="1050" b="1">
                <a:solidFill>
                  <a:srgbClr val="FFFFFF"/>
                </a:solidFill>
                <a:latin typeface="Segoe UI"/>
              </a:rPr>
              <a:t>Capability</a:t>
            </a:r>
          </a:p>
        </p:txBody>
      </p:sp>
      <p:sp>
        <p:nvSpPr>
          <p:cNvPr id="11" name="Rectangle 10"/>
          <p:cNvSpPr/>
          <p:nvPr/>
        </p:nvSpPr>
        <p:spPr>
          <a:xfrm>
            <a:off x="3429000" y="1828800"/>
            <a:ext cx="1280160" cy="5029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828800"/>
            <a:ext cx="1280160" cy="502920"/>
          </a:xfrm>
          <a:prstGeom prst="rect">
            <a:avLst/>
          </a:prstGeom>
          <a:noFill/>
        </p:spPr>
        <p:txBody>
          <a:bodyPr wrap="square" lIns="0" rIns="0" tIns="0" bIns="0" anchor="ctr">
            <a:spAutoFit/>
          </a:bodyPr>
          <a:lstStyle/>
          <a:p>
            <a:pPr algn="ctr"/>
            <a:r>
              <a:rPr sz="1050" b="1">
                <a:solidFill>
                  <a:srgbClr val="FFFFFF"/>
                </a:solidFill>
                <a:latin typeface="Segoe UI"/>
              </a:rPr>
              <a:t>Purview</a:t>
            </a:r>
          </a:p>
        </p:txBody>
      </p:sp>
      <p:sp>
        <p:nvSpPr>
          <p:cNvPr id="13" name="Rectangle 12"/>
          <p:cNvSpPr/>
          <p:nvPr/>
        </p:nvSpPr>
        <p:spPr>
          <a:xfrm>
            <a:off x="4709160" y="1828800"/>
            <a:ext cx="1280160" cy="5029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1828800"/>
            <a:ext cx="1280160" cy="502920"/>
          </a:xfrm>
          <a:prstGeom prst="rect">
            <a:avLst/>
          </a:prstGeom>
          <a:noFill/>
        </p:spPr>
        <p:txBody>
          <a:bodyPr wrap="square" lIns="0" rIns="0" tIns="0" bIns="0" anchor="ctr">
            <a:spAutoFit/>
          </a:bodyPr>
          <a:lstStyle/>
          <a:p>
            <a:pPr algn="ctr"/>
            <a:r>
              <a:rPr sz="1050" b="1">
                <a:solidFill>
                  <a:srgbClr val="FFFFFF"/>
                </a:solidFill>
                <a:latin typeface="Segoe UI"/>
              </a:rPr>
              <a:t>Collibra</a:t>
            </a:r>
          </a:p>
        </p:txBody>
      </p:sp>
      <p:sp>
        <p:nvSpPr>
          <p:cNvPr id="15" name="Rectangle 14"/>
          <p:cNvSpPr/>
          <p:nvPr/>
        </p:nvSpPr>
        <p:spPr>
          <a:xfrm>
            <a:off x="5989320" y="1828800"/>
            <a:ext cx="1417320" cy="5029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89320" y="1828800"/>
            <a:ext cx="1417320" cy="502920"/>
          </a:xfrm>
          <a:prstGeom prst="rect">
            <a:avLst/>
          </a:prstGeom>
          <a:noFill/>
        </p:spPr>
        <p:txBody>
          <a:bodyPr wrap="square" lIns="0" rIns="0" tIns="0" bIns="0" anchor="ctr">
            <a:spAutoFit/>
          </a:bodyPr>
          <a:lstStyle/>
          <a:p>
            <a:pPr algn="ctr"/>
            <a:r>
              <a:rPr sz="1050" b="1">
                <a:solidFill>
                  <a:srgbClr val="FFFFFF"/>
                </a:solidFill>
                <a:latin typeface="Segoe UI"/>
              </a:rPr>
              <a:t>Informatica</a:t>
            </a:r>
          </a:p>
        </p:txBody>
      </p:sp>
      <p:sp>
        <p:nvSpPr>
          <p:cNvPr id="17" name="Rectangle 16"/>
          <p:cNvSpPr/>
          <p:nvPr/>
        </p:nvSpPr>
        <p:spPr>
          <a:xfrm>
            <a:off x="7406640" y="1828800"/>
            <a:ext cx="2377440" cy="5029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1828800"/>
            <a:ext cx="2377440" cy="502920"/>
          </a:xfrm>
          <a:prstGeom prst="rect">
            <a:avLst/>
          </a:prstGeom>
          <a:noFill/>
        </p:spPr>
        <p:txBody>
          <a:bodyPr wrap="square" lIns="0" rIns="0" tIns="0" bIns="0" anchor="ctr">
            <a:spAutoFit/>
          </a:bodyPr>
          <a:lstStyle/>
          <a:p>
            <a:pPr algn="ctr"/>
            <a:r>
              <a:rPr sz="1050" b="1">
                <a:solidFill>
                  <a:srgbClr val="FFFFFF"/>
                </a:solidFill>
                <a:latin typeface="Segoe UI"/>
              </a:rPr>
              <a:t>Open-source</a:t>
            </a:r>
          </a:p>
          <a:p>
            <a:pPr algn="ctr"/>
            <a:r>
              <a:rPr sz="1050" b="1">
                <a:solidFill>
                  <a:srgbClr val="FFFFFF"/>
                </a:solidFill>
                <a:latin typeface="Segoe UI"/>
              </a:rPr>
              <a:t>(Soda, Great Expectations)</a:t>
            </a:r>
          </a:p>
        </p:txBody>
      </p:sp>
      <p:sp>
        <p:nvSpPr>
          <p:cNvPr id="19" name="Rectangle 18"/>
          <p:cNvSpPr/>
          <p:nvPr/>
        </p:nvSpPr>
        <p:spPr>
          <a:xfrm>
            <a:off x="9784080" y="1828800"/>
            <a:ext cx="1417320" cy="5029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828800"/>
            <a:ext cx="1417320" cy="502920"/>
          </a:xfrm>
          <a:prstGeom prst="rect">
            <a:avLst/>
          </a:prstGeom>
          <a:noFill/>
        </p:spPr>
        <p:txBody>
          <a:bodyPr wrap="square" lIns="0" rIns="0" tIns="0" bIns="0" anchor="ctr">
            <a:spAutoFit/>
          </a:bodyPr>
          <a:lstStyle/>
          <a:p>
            <a:pPr algn="ctr"/>
            <a:r>
              <a:rPr sz="1050" b="1">
                <a:solidFill>
                  <a:srgbClr val="FFFFFF"/>
                </a:solidFill>
                <a:latin typeface="Segoe UI"/>
              </a:rPr>
              <a:t>Orqentis</a:t>
            </a:r>
          </a:p>
        </p:txBody>
      </p:sp>
      <p:sp>
        <p:nvSpPr>
          <p:cNvPr id="21" name="Rectangle 20"/>
          <p:cNvSpPr/>
          <p:nvPr/>
        </p:nvSpPr>
        <p:spPr>
          <a:xfrm>
            <a:off x="502920" y="2331720"/>
            <a:ext cx="292608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331720"/>
            <a:ext cx="2788920" cy="502920"/>
          </a:xfrm>
          <a:prstGeom prst="rect">
            <a:avLst/>
          </a:prstGeom>
          <a:noFill/>
        </p:spPr>
        <p:txBody>
          <a:bodyPr wrap="square" lIns="0" rIns="0" tIns="0" bIns="0" anchor="ctr">
            <a:spAutoFit/>
          </a:bodyPr>
          <a:lstStyle/>
          <a:p>
            <a:pPr algn="l"/>
            <a:r>
              <a:rPr sz="1100" b="0">
                <a:solidFill>
                  <a:srgbClr val="0B1F3A"/>
                </a:solidFill>
                <a:latin typeface="Segoe UI"/>
              </a:rPr>
              <a:t>Fabric-native (OneLake OBO)</a:t>
            </a:r>
          </a:p>
        </p:txBody>
      </p:sp>
      <p:sp>
        <p:nvSpPr>
          <p:cNvPr id="23" name="Rectangle 22"/>
          <p:cNvSpPr/>
          <p:nvPr/>
        </p:nvSpPr>
        <p:spPr>
          <a:xfrm>
            <a:off x="3429000" y="2331720"/>
            <a:ext cx="128016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29000" y="2331720"/>
            <a:ext cx="1280160" cy="502920"/>
          </a:xfrm>
          <a:prstGeom prst="rect">
            <a:avLst/>
          </a:prstGeom>
          <a:noFill/>
        </p:spPr>
        <p:txBody>
          <a:bodyPr wrap="square" lIns="0" rIns="0" tIns="0" bIns="0" anchor="ctr">
            <a:spAutoFit/>
          </a:bodyPr>
          <a:lstStyle/>
          <a:p>
            <a:pPr algn="ctr"/>
            <a:r>
              <a:rPr sz="1100" b="0">
                <a:solidFill>
                  <a:srgbClr val="F2A31B"/>
                </a:solidFill>
                <a:latin typeface="Segoe UI"/>
              </a:rPr>
              <a:t>Partial</a:t>
            </a:r>
          </a:p>
        </p:txBody>
      </p:sp>
      <p:sp>
        <p:nvSpPr>
          <p:cNvPr id="25" name="Rectangle 24"/>
          <p:cNvSpPr/>
          <p:nvPr/>
        </p:nvSpPr>
        <p:spPr>
          <a:xfrm>
            <a:off x="4709160" y="2331720"/>
            <a:ext cx="128016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233172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27" name="Rectangle 26"/>
          <p:cNvSpPr/>
          <p:nvPr/>
        </p:nvSpPr>
        <p:spPr>
          <a:xfrm>
            <a:off x="5989320" y="2331720"/>
            <a:ext cx="141732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89320" y="2331720"/>
            <a:ext cx="141732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29" name="Rectangle 28"/>
          <p:cNvSpPr/>
          <p:nvPr/>
        </p:nvSpPr>
        <p:spPr>
          <a:xfrm>
            <a:off x="7406640" y="2331720"/>
            <a:ext cx="237744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2331720"/>
            <a:ext cx="237744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31" name="Rectangle 30"/>
          <p:cNvSpPr/>
          <p:nvPr/>
        </p:nvSpPr>
        <p:spPr>
          <a:xfrm>
            <a:off x="9784080" y="2331720"/>
            <a:ext cx="141732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80" y="2331720"/>
            <a:ext cx="1417320" cy="502920"/>
          </a:xfrm>
          <a:prstGeom prst="rect">
            <a:avLst/>
          </a:prstGeom>
          <a:noFill/>
        </p:spPr>
        <p:txBody>
          <a:bodyPr wrap="square" lIns="0" rIns="0" tIns="0" bIns="0" anchor="ctr">
            <a:spAutoFit/>
          </a:bodyPr>
          <a:lstStyle/>
          <a:p>
            <a:pPr algn="ctr"/>
            <a:r>
              <a:rPr sz="1100" b="1">
                <a:solidFill>
                  <a:srgbClr val="0B5CA8"/>
                </a:solidFill>
                <a:latin typeface="Segoe UI"/>
              </a:rPr>
              <a:t>Yes</a:t>
            </a:r>
          </a:p>
        </p:txBody>
      </p:sp>
      <p:sp>
        <p:nvSpPr>
          <p:cNvPr id="33" name="Rectangle 32"/>
          <p:cNvSpPr/>
          <p:nvPr/>
        </p:nvSpPr>
        <p:spPr>
          <a:xfrm>
            <a:off x="502920" y="2834640"/>
            <a:ext cx="292608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2834640"/>
            <a:ext cx="2788920" cy="502920"/>
          </a:xfrm>
          <a:prstGeom prst="rect">
            <a:avLst/>
          </a:prstGeom>
          <a:noFill/>
        </p:spPr>
        <p:txBody>
          <a:bodyPr wrap="square" lIns="0" rIns="0" tIns="0" bIns="0" anchor="ctr">
            <a:spAutoFit/>
          </a:bodyPr>
          <a:lstStyle/>
          <a:p>
            <a:pPr algn="l"/>
            <a:r>
              <a:rPr sz="1100" b="0">
                <a:solidFill>
                  <a:srgbClr val="0B1F3A"/>
                </a:solidFill>
                <a:latin typeface="Segoe UI"/>
              </a:rPr>
              <a:t>ODCS v3.1.0 portable contracts</a:t>
            </a:r>
          </a:p>
        </p:txBody>
      </p:sp>
      <p:sp>
        <p:nvSpPr>
          <p:cNvPr id="35" name="Rectangle 34"/>
          <p:cNvSpPr/>
          <p:nvPr/>
        </p:nvSpPr>
        <p:spPr>
          <a:xfrm>
            <a:off x="3429000" y="2834640"/>
            <a:ext cx="128016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29000" y="283464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37" name="Rectangle 36"/>
          <p:cNvSpPr/>
          <p:nvPr/>
        </p:nvSpPr>
        <p:spPr>
          <a:xfrm>
            <a:off x="4709160" y="2834640"/>
            <a:ext cx="128016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09160" y="283464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39" name="Rectangle 38"/>
          <p:cNvSpPr/>
          <p:nvPr/>
        </p:nvSpPr>
        <p:spPr>
          <a:xfrm>
            <a:off x="5989320" y="2834640"/>
            <a:ext cx="141732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89320" y="2834640"/>
            <a:ext cx="141732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41" name="Rectangle 40"/>
          <p:cNvSpPr/>
          <p:nvPr/>
        </p:nvSpPr>
        <p:spPr>
          <a:xfrm>
            <a:off x="7406640" y="2834640"/>
            <a:ext cx="237744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0" y="2834640"/>
            <a:ext cx="2377440" cy="502920"/>
          </a:xfrm>
          <a:prstGeom prst="rect">
            <a:avLst/>
          </a:prstGeom>
          <a:noFill/>
        </p:spPr>
        <p:txBody>
          <a:bodyPr wrap="square" lIns="0" rIns="0" tIns="0" bIns="0" anchor="ctr">
            <a:spAutoFit/>
          </a:bodyPr>
          <a:lstStyle/>
          <a:p>
            <a:pPr algn="ctr"/>
            <a:r>
              <a:rPr sz="1100" b="0">
                <a:solidFill>
                  <a:srgbClr val="F2A31B"/>
                </a:solidFill>
                <a:latin typeface="Segoe UI"/>
              </a:rPr>
              <a:t>Partial</a:t>
            </a:r>
          </a:p>
        </p:txBody>
      </p:sp>
      <p:sp>
        <p:nvSpPr>
          <p:cNvPr id="43" name="Rectangle 42"/>
          <p:cNvSpPr/>
          <p:nvPr/>
        </p:nvSpPr>
        <p:spPr>
          <a:xfrm>
            <a:off x="9784080" y="2834640"/>
            <a:ext cx="141732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784080" y="2834640"/>
            <a:ext cx="1417320" cy="502920"/>
          </a:xfrm>
          <a:prstGeom prst="rect">
            <a:avLst/>
          </a:prstGeom>
          <a:noFill/>
        </p:spPr>
        <p:txBody>
          <a:bodyPr wrap="square" lIns="0" rIns="0" tIns="0" bIns="0" anchor="ctr">
            <a:spAutoFit/>
          </a:bodyPr>
          <a:lstStyle/>
          <a:p>
            <a:pPr algn="ctr"/>
            <a:r>
              <a:rPr sz="1100" b="1">
                <a:solidFill>
                  <a:srgbClr val="0B5CA8"/>
                </a:solidFill>
                <a:latin typeface="Segoe UI"/>
              </a:rPr>
              <a:t>Yes</a:t>
            </a:r>
          </a:p>
        </p:txBody>
      </p:sp>
      <p:sp>
        <p:nvSpPr>
          <p:cNvPr id="45" name="Rectangle 44"/>
          <p:cNvSpPr/>
          <p:nvPr/>
        </p:nvSpPr>
        <p:spPr>
          <a:xfrm>
            <a:off x="502920" y="3337560"/>
            <a:ext cx="292608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3337560"/>
            <a:ext cx="2788920" cy="502920"/>
          </a:xfrm>
          <a:prstGeom prst="rect">
            <a:avLst/>
          </a:prstGeom>
          <a:noFill/>
        </p:spPr>
        <p:txBody>
          <a:bodyPr wrap="square" lIns="0" rIns="0" tIns="0" bIns="0" anchor="ctr">
            <a:spAutoFit/>
          </a:bodyPr>
          <a:lstStyle/>
          <a:p>
            <a:pPr algn="l"/>
            <a:r>
              <a:rPr sz="1100" b="0">
                <a:solidFill>
                  <a:srgbClr val="0B1F3A"/>
                </a:solidFill>
                <a:latin typeface="Segoe UI"/>
              </a:rPr>
              <a:t>AI suggest from real Delta sample</a:t>
            </a:r>
          </a:p>
        </p:txBody>
      </p:sp>
      <p:sp>
        <p:nvSpPr>
          <p:cNvPr id="47" name="Rectangle 46"/>
          <p:cNvSpPr/>
          <p:nvPr/>
        </p:nvSpPr>
        <p:spPr>
          <a:xfrm>
            <a:off x="3429000" y="3337560"/>
            <a:ext cx="128016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29000" y="333756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49" name="Rectangle 48"/>
          <p:cNvSpPr/>
          <p:nvPr/>
        </p:nvSpPr>
        <p:spPr>
          <a:xfrm>
            <a:off x="4709160" y="3337560"/>
            <a:ext cx="128016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709160" y="333756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51" name="Rectangle 50"/>
          <p:cNvSpPr/>
          <p:nvPr/>
        </p:nvSpPr>
        <p:spPr>
          <a:xfrm>
            <a:off x="5989320" y="3337560"/>
            <a:ext cx="141732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89320" y="3337560"/>
            <a:ext cx="141732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53" name="Rectangle 52"/>
          <p:cNvSpPr/>
          <p:nvPr/>
        </p:nvSpPr>
        <p:spPr>
          <a:xfrm>
            <a:off x="7406640" y="3337560"/>
            <a:ext cx="237744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06640" y="3337560"/>
            <a:ext cx="237744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55" name="Rectangle 54"/>
          <p:cNvSpPr/>
          <p:nvPr/>
        </p:nvSpPr>
        <p:spPr>
          <a:xfrm>
            <a:off x="9784080" y="3337560"/>
            <a:ext cx="141732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84080" y="3337560"/>
            <a:ext cx="1417320" cy="502920"/>
          </a:xfrm>
          <a:prstGeom prst="rect">
            <a:avLst/>
          </a:prstGeom>
          <a:noFill/>
        </p:spPr>
        <p:txBody>
          <a:bodyPr wrap="square" lIns="0" rIns="0" tIns="0" bIns="0" anchor="ctr">
            <a:spAutoFit/>
          </a:bodyPr>
          <a:lstStyle/>
          <a:p>
            <a:pPr algn="ctr"/>
            <a:r>
              <a:rPr sz="1100" b="1">
                <a:solidFill>
                  <a:srgbClr val="0B5CA8"/>
                </a:solidFill>
                <a:latin typeface="Segoe UI"/>
              </a:rPr>
              <a:t>Yes</a:t>
            </a:r>
          </a:p>
        </p:txBody>
      </p:sp>
      <p:sp>
        <p:nvSpPr>
          <p:cNvPr id="57" name="Rectangle 56"/>
          <p:cNvSpPr/>
          <p:nvPr/>
        </p:nvSpPr>
        <p:spPr>
          <a:xfrm>
            <a:off x="502920" y="3840480"/>
            <a:ext cx="292608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3840480"/>
            <a:ext cx="2788920" cy="502920"/>
          </a:xfrm>
          <a:prstGeom prst="rect">
            <a:avLst/>
          </a:prstGeom>
          <a:noFill/>
        </p:spPr>
        <p:txBody>
          <a:bodyPr wrap="square" lIns="0" rIns="0" tIns="0" bIns="0" anchor="ctr">
            <a:spAutoFit/>
          </a:bodyPr>
          <a:lstStyle/>
          <a:p>
            <a:pPr algn="l"/>
            <a:r>
              <a:rPr sz="1100" b="0">
                <a:solidFill>
                  <a:srgbClr val="0B1F3A"/>
                </a:solidFill>
                <a:latin typeface="Segoe UI"/>
              </a:rPr>
              <a:t>Block-on-violation enforcement</a:t>
            </a:r>
          </a:p>
        </p:txBody>
      </p:sp>
      <p:sp>
        <p:nvSpPr>
          <p:cNvPr id="59" name="Rectangle 58"/>
          <p:cNvSpPr/>
          <p:nvPr/>
        </p:nvSpPr>
        <p:spPr>
          <a:xfrm>
            <a:off x="3429000" y="3840480"/>
            <a:ext cx="128016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29000" y="384048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61" name="Rectangle 60"/>
          <p:cNvSpPr/>
          <p:nvPr/>
        </p:nvSpPr>
        <p:spPr>
          <a:xfrm>
            <a:off x="4709160" y="3840480"/>
            <a:ext cx="128016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709160" y="384048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63" name="Rectangle 62"/>
          <p:cNvSpPr/>
          <p:nvPr/>
        </p:nvSpPr>
        <p:spPr>
          <a:xfrm>
            <a:off x="5989320" y="3840480"/>
            <a:ext cx="141732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989320" y="3840480"/>
            <a:ext cx="1417320" cy="502920"/>
          </a:xfrm>
          <a:prstGeom prst="rect">
            <a:avLst/>
          </a:prstGeom>
          <a:noFill/>
        </p:spPr>
        <p:txBody>
          <a:bodyPr wrap="square" lIns="0" rIns="0" tIns="0" bIns="0" anchor="ctr">
            <a:spAutoFit/>
          </a:bodyPr>
          <a:lstStyle/>
          <a:p>
            <a:pPr algn="ctr"/>
            <a:r>
              <a:rPr sz="1100" b="0">
                <a:solidFill>
                  <a:srgbClr val="F2A31B"/>
                </a:solidFill>
                <a:latin typeface="Segoe UI"/>
              </a:rPr>
              <a:t>Partial</a:t>
            </a:r>
          </a:p>
        </p:txBody>
      </p:sp>
      <p:sp>
        <p:nvSpPr>
          <p:cNvPr id="65" name="Rectangle 64"/>
          <p:cNvSpPr/>
          <p:nvPr/>
        </p:nvSpPr>
        <p:spPr>
          <a:xfrm>
            <a:off x="7406640" y="3840480"/>
            <a:ext cx="237744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06640" y="3840480"/>
            <a:ext cx="2377440" cy="502920"/>
          </a:xfrm>
          <a:prstGeom prst="rect">
            <a:avLst/>
          </a:prstGeom>
          <a:noFill/>
        </p:spPr>
        <p:txBody>
          <a:bodyPr wrap="square" lIns="0" rIns="0" tIns="0" bIns="0" anchor="ctr">
            <a:spAutoFit/>
          </a:bodyPr>
          <a:lstStyle/>
          <a:p>
            <a:pPr algn="ctr"/>
            <a:r>
              <a:rPr sz="1100" b="0">
                <a:solidFill>
                  <a:srgbClr val="F2A31B"/>
                </a:solidFill>
                <a:latin typeface="Segoe UI"/>
              </a:rPr>
              <a:t>Partial</a:t>
            </a:r>
          </a:p>
        </p:txBody>
      </p:sp>
      <p:sp>
        <p:nvSpPr>
          <p:cNvPr id="67" name="Rectangle 66"/>
          <p:cNvSpPr/>
          <p:nvPr/>
        </p:nvSpPr>
        <p:spPr>
          <a:xfrm>
            <a:off x="9784080" y="3840480"/>
            <a:ext cx="141732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784080" y="3840480"/>
            <a:ext cx="1417320" cy="502920"/>
          </a:xfrm>
          <a:prstGeom prst="rect">
            <a:avLst/>
          </a:prstGeom>
          <a:noFill/>
        </p:spPr>
        <p:txBody>
          <a:bodyPr wrap="square" lIns="0" rIns="0" tIns="0" bIns="0" anchor="ctr">
            <a:spAutoFit/>
          </a:bodyPr>
          <a:lstStyle/>
          <a:p>
            <a:pPr algn="ctr"/>
            <a:r>
              <a:rPr sz="1100" b="1">
                <a:solidFill>
                  <a:srgbClr val="0B5CA8"/>
                </a:solidFill>
                <a:latin typeface="Segoe UI"/>
              </a:rPr>
              <a:t>Yes</a:t>
            </a:r>
          </a:p>
        </p:txBody>
      </p:sp>
      <p:sp>
        <p:nvSpPr>
          <p:cNvPr id="69" name="Rectangle 68"/>
          <p:cNvSpPr/>
          <p:nvPr/>
        </p:nvSpPr>
        <p:spPr>
          <a:xfrm>
            <a:off x="502920" y="4343400"/>
            <a:ext cx="292608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 y="4343400"/>
            <a:ext cx="2788920" cy="502920"/>
          </a:xfrm>
          <a:prstGeom prst="rect">
            <a:avLst/>
          </a:prstGeom>
          <a:noFill/>
        </p:spPr>
        <p:txBody>
          <a:bodyPr wrap="square" lIns="0" rIns="0" tIns="0" bIns="0" anchor="ctr">
            <a:spAutoFit/>
          </a:bodyPr>
          <a:lstStyle/>
          <a:p>
            <a:pPr algn="l"/>
            <a:r>
              <a:rPr sz="1100" b="0">
                <a:solidFill>
                  <a:srgbClr val="0B1F3A"/>
                </a:solidFill>
                <a:latin typeface="Segoe UI"/>
              </a:rPr>
              <a:t>Activator + Teams + Jira routing</a:t>
            </a:r>
          </a:p>
        </p:txBody>
      </p:sp>
      <p:sp>
        <p:nvSpPr>
          <p:cNvPr id="71" name="Rectangle 70"/>
          <p:cNvSpPr/>
          <p:nvPr/>
        </p:nvSpPr>
        <p:spPr>
          <a:xfrm>
            <a:off x="3429000" y="4343400"/>
            <a:ext cx="128016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429000" y="434340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73" name="Rectangle 72"/>
          <p:cNvSpPr/>
          <p:nvPr/>
        </p:nvSpPr>
        <p:spPr>
          <a:xfrm>
            <a:off x="4709160" y="4343400"/>
            <a:ext cx="128016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709160" y="4343400"/>
            <a:ext cx="128016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75" name="Rectangle 74"/>
          <p:cNvSpPr/>
          <p:nvPr/>
        </p:nvSpPr>
        <p:spPr>
          <a:xfrm>
            <a:off x="5989320" y="4343400"/>
            <a:ext cx="141732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989320" y="4343400"/>
            <a:ext cx="141732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77" name="Rectangle 76"/>
          <p:cNvSpPr/>
          <p:nvPr/>
        </p:nvSpPr>
        <p:spPr>
          <a:xfrm>
            <a:off x="7406640" y="4343400"/>
            <a:ext cx="237744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406640" y="4343400"/>
            <a:ext cx="2377440" cy="502920"/>
          </a:xfrm>
          <a:prstGeom prst="rect">
            <a:avLst/>
          </a:prstGeom>
          <a:noFill/>
        </p:spPr>
        <p:txBody>
          <a:bodyPr wrap="square" lIns="0" rIns="0" tIns="0" bIns="0" anchor="ctr">
            <a:spAutoFit/>
          </a:bodyPr>
          <a:lstStyle/>
          <a:p>
            <a:pPr algn="ctr"/>
            <a:r>
              <a:rPr sz="1100" b="0">
                <a:solidFill>
                  <a:srgbClr val="E04B53"/>
                </a:solidFill>
                <a:latin typeface="Segoe UI"/>
              </a:rPr>
              <a:t>No</a:t>
            </a:r>
          </a:p>
        </p:txBody>
      </p:sp>
      <p:sp>
        <p:nvSpPr>
          <p:cNvPr id="79" name="Rectangle 78"/>
          <p:cNvSpPr/>
          <p:nvPr/>
        </p:nvSpPr>
        <p:spPr>
          <a:xfrm>
            <a:off x="9784080" y="4343400"/>
            <a:ext cx="1417320" cy="502920"/>
          </a:xfrm>
          <a:prstGeom prst="rect">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784080" y="4343400"/>
            <a:ext cx="1417320" cy="502920"/>
          </a:xfrm>
          <a:prstGeom prst="rect">
            <a:avLst/>
          </a:prstGeom>
          <a:noFill/>
        </p:spPr>
        <p:txBody>
          <a:bodyPr wrap="square" lIns="0" rIns="0" tIns="0" bIns="0" anchor="ctr">
            <a:spAutoFit/>
          </a:bodyPr>
          <a:lstStyle/>
          <a:p>
            <a:pPr algn="ctr"/>
            <a:r>
              <a:rPr sz="1100" b="1">
                <a:solidFill>
                  <a:srgbClr val="0B5CA8"/>
                </a:solidFill>
                <a:latin typeface="Segoe UI"/>
              </a:rPr>
              <a:t>Yes</a:t>
            </a:r>
          </a:p>
        </p:txBody>
      </p:sp>
      <p:sp>
        <p:nvSpPr>
          <p:cNvPr id="81" name="Rectangle 80"/>
          <p:cNvSpPr/>
          <p:nvPr/>
        </p:nvSpPr>
        <p:spPr>
          <a:xfrm>
            <a:off x="502920" y="4846320"/>
            <a:ext cx="292608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40080" y="4846320"/>
            <a:ext cx="2788920" cy="502920"/>
          </a:xfrm>
          <a:prstGeom prst="rect">
            <a:avLst/>
          </a:prstGeom>
          <a:noFill/>
        </p:spPr>
        <p:txBody>
          <a:bodyPr wrap="square" lIns="0" rIns="0" tIns="0" bIns="0" anchor="ctr">
            <a:spAutoFit/>
          </a:bodyPr>
          <a:lstStyle/>
          <a:p>
            <a:pPr algn="l"/>
            <a:r>
              <a:rPr sz="1100" b="0">
                <a:solidFill>
                  <a:srgbClr val="0B1F3A"/>
                </a:solidFill>
                <a:latin typeface="Segoe UI"/>
              </a:rPr>
              <a:t>Time-to-first-contract</a:t>
            </a:r>
          </a:p>
        </p:txBody>
      </p:sp>
      <p:sp>
        <p:nvSpPr>
          <p:cNvPr id="83" name="Rectangle 82"/>
          <p:cNvSpPr/>
          <p:nvPr/>
        </p:nvSpPr>
        <p:spPr>
          <a:xfrm>
            <a:off x="3429000" y="4846320"/>
            <a:ext cx="128016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429000" y="4846320"/>
            <a:ext cx="1280160" cy="502920"/>
          </a:xfrm>
          <a:prstGeom prst="rect">
            <a:avLst/>
          </a:prstGeom>
          <a:noFill/>
        </p:spPr>
        <p:txBody>
          <a:bodyPr wrap="square" lIns="0" rIns="0" tIns="0" bIns="0" anchor="ctr">
            <a:spAutoFit/>
          </a:bodyPr>
          <a:lstStyle/>
          <a:p>
            <a:pPr algn="ctr"/>
            <a:r>
              <a:rPr sz="1100" b="0">
                <a:solidFill>
                  <a:srgbClr val="0B1F3A"/>
                </a:solidFill>
                <a:latin typeface="Segoe UI"/>
              </a:rPr>
              <a:t>Weeks</a:t>
            </a:r>
          </a:p>
        </p:txBody>
      </p:sp>
      <p:sp>
        <p:nvSpPr>
          <p:cNvPr id="85" name="Rectangle 84"/>
          <p:cNvSpPr/>
          <p:nvPr/>
        </p:nvSpPr>
        <p:spPr>
          <a:xfrm>
            <a:off x="4709160" y="4846320"/>
            <a:ext cx="128016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709160" y="4846320"/>
            <a:ext cx="1280160" cy="502920"/>
          </a:xfrm>
          <a:prstGeom prst="rect">
            <a:avLst/>
          </a:prstGeom>
          <a:noFill/>
        </p:spPr>
        <p:txBody>
          <a:bodyPr wrap="square" lIns="0" rIns="0" tIns="0" bIns="0" anchor="ctr">
            <a:spAutoFit/>
          </a:bodyPr>
          <a:lstStyle/>
          <a:p>
            <a:pPr algn="ctr"/>
            <a:r>
              <a:rPr sz="1100" b="0">
                <a:solidFill>
                  <a:srgbClr val="0B1F3A"/>
                </a:solidFill>
                <a:latin typeface="Segoe UI"/>
              </a:rPr>
              <a:t>Weeks</a:t>
            </a:r>
          </a:p>
        </p:txBody>
      </p:sp>
      <p:sp>
        <p:nvSpPr>
          <p:cNvPr id="87" name="Rectangle 86"/>
          <p:cNvSpPr/>
          <p:nvPr/>
        </p:nvSpPr>
        <p:spPr>
          <a:xfrm>
            <a:off x="5989320" y="4846320"/>
            <a:ext cx="141732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989320" y="4846320"/>
            <a:ext cx="1417320" cy="502920"/>
          </a:xfrm>
          <a:prstGeom prst="rect">
            <a:avLst/>
          </a:prstGeom>
          <a:noFill/>
        </p:spPr>
        <p:txBody>
          <a:bodyPr wrap="square" lIns="0" rIns="0" tIns="0" bIns="0" anchor="ctr">
            <a:spAutoFit/>
          </a:bodyPr>
          <a:lstStyle/>
          <a:p>
            <a:pPr algn="ctr"/>
            <a:r>
              <a:rPr sz="1100" b="0">
                <a:solidFill>
                  <a:srgbClr val="0B1F3A"/>
                </a:solidFill>
                <a:latin typeface="Segoe UI"/>
              </a:rPr>
              <a:t>Months</a:t>
            </a:r>
          </a:p>
        </p:txBody>
      </p:sp>
      <p:sp>
        <p:nvSpPr>
          <p:cNvPr id="89" name="Rectangle 88"/>
          <p:cNvSpPr/>
          <p:nvPr/>
        </p:nvSpPr>
        <p:spPr>
          <a:xfrm>
            <a:off x="7406640" y="4846320"/>
            <a:ext cx="237744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406640" y="4846320"/>
            <a:ext cx="2377440" cy="502920"/>
          </a:xfrm>
          <a:prstGeom prst="rect">
            <a:avLst/>
          </a:prstGeom>
          <a:noFill/>
        </p:spPr>
        <p:txBody>
          <a:bodyPr wrap="square" lIns="0" rIns="0" tIns="0" bIns="0" anchor="ctr">
            <a:spAutoFit/>
          </a:bodyPr>
          <a:lstStyle/>
          <a:p>
            <a:pPr algn="ctr"/>
            <a:r>
              <a:rPr sz="1100" b="0">
                <a:solidFill>
                  <a:srgbClr val="0B1F3A"/>
                </a:solidFill>
                <a:latin typeface="Segoe UI"/>
              </a:rPr>
              <a:t>Days</a:t>
            </a:r>
          </a:p>
        </p:txBody>
      </p:sp>
      <p:sp>
        <p:nvSpPr>
          <p:cNvPr id="91" name="Rectangle 90"/>
          <p:cNvSpPr/>
          <p:nvPr/>
        </p:nvSpPr>
        <p:spPr>
          <a:xfrm>
            <a:off x="9784080" y="4846320"/>
            <a:ext cx="1417320" cy="502920"/>
          </a:xfrm>
          <a:prstGeom prst="rect">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784080" y="4846320"/>
            <a:ext cx="1417320" cy="502920"/>
          </a:xfrm>
          <a:prstGeom prst="rect">
            <a:avLst/>
          </a:prstGeom>
          <a:noFill/>
        </p:spPr>
        <p:txBody>
          <a:bodyPr wrap="square" lIns="0" rIns="0" tIns="0" bIns="0" anchor="ctr">
            <a:spAutoFit/>
          </a:bodyPr>
          <a:lstStyle/>
          <a:p>
            <a:pPr algn="ctr"/>
            <a:r>
              <a:rPr sz="1100" b="1">
                <a:solidFill>
                  <a:srgbClr val="0B5CA8"/>
                </a:solidFill>
                <a:latin typeface="Segoe UI"/>
              </a:rPr>
              <a:t>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MARKET</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A $14B governance market, with Fabric as the wedge.</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11 / 14</a:t>
            </a:r>
          </a:p>
        </p:txBody>
      </p:sp>
      <p:sp>
        <p:nvSpPr>
          <p:cNvPr id="9" name="Rounded Rectangle 8"/>
          <p:cNvSpPr/>
          <p:nvPr/>
        </p:nvSpPr>
        <p:spPr>
          <a:xfrm>
            <a:off x="640080" y="1828800"/>
            <a:ext cx="3566160" cy="27889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3566160" cy="109728"/>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194560"/>
            <a:ext cx="3017520" cy="365760"/>
          </a:xfrm>
          <a:prstGeom prst="rect">
            <a:avLst/>
          </a:prstGeom>
          <a:noFill/>
        </p:spPr>
        <p:txBody>
          <a:bodyPr wrap="square" lIns="0" rIns="0" tIns="0" bIns="0" anchor="t">
            <a:spAutoFit/>
          </a:bodyPr>
          <a:lstStyle/>
          <a:p>
            <a:pPr algn="l"/>
            <a:r>
              <a:rPr sz="1100" b="1">
                <a:solidFill>
                  <a:srgbClr val="1177D1"/>
                </a:solidFill>
                <a:latin typeface="Segoe UI"/>
              </a:rPr>
              <a:t>TAM</a:t>
            </a:r>
          </a:p>
        </p:txBody>
      </p:sp>
      <p:sp>
        <p:nvSpPr>
          <p:cNvPr id="12" name="TextBox 11"/>
          <p:cNvSpPr txBox="1"/>
          <p:nvPr/>
        </p:nvSpPr>
        <p:spPr>
          <a:xfrm>
            <a:off x="914400" y="2606040"/>
            <a:ext cx="3017520" cy="1097280"/>
          </a:xfrm>
          <a:prstGeom prst="rect">
            <a:avLst/>
          </a:prstGeom>
          <a:noFill/>
        </p:spPr>
        <p:txBody>
          <a:bodyPr wrap="square" lIns="0" rIns="0" tIns="0" bIns="0" anchor="t">
            <a:spAutoFit/>
          </a:bodyPr>
          <a:lstStyle/>
          <a:p>
            <a:pPr algn="l"/>
            <a:r>
              <a:rPr sz="3600" b="1">
                <a:solidFill>
                  <a:srgbClr val="0B1F3A"/>
                </a:solidFill>
                <a:latin typeface="Segoe UI"/>
              </a:rPr>
              <a:t>$14.1B</a:t>
            </a:r>
          </a:p>
        </p:txBody>
      </p:sp>
      <p:sp>
        <p:nvSpPr>
          <p:cNvPr id="13" name="TextBox 12"/>
          <p:cNvSpPr txBox="1"/>
          <p:nvPr/>
        </p:nvSpPr>
        <p:spPr>
          <a:xfrm>
            <a:off x="914400" y="3703319"/>
            <a:ext cx="3017520" cy="731520"/>
          </a:xfrm>
          <a:prstGeom prst="rect">
            <a:avLst/>
          </a:prstGeom>
          <a:noFill/>
        </p:spPr>
        <p:txBody>
          <a:bodyPr wrap="square" lIns="0" rIns="0" tIns="0" bIns="0" anchor="t">
            <a:spAutoFit/>
          </a:bodyPr>
          <a:lstStyle/>
          <a:p>
            <a:pPr algn="l"/>
            <a:r>
              <a:rPr sz="1100" b="0">
                <a:solidFill>
                  <a:srgbClr val="334E68"/>
                </a:solidFill>
                <a:latin typeface="Segoe UI"/>
              </a:rPr>
              <a:t>Global data governance + observability + catalog software, 2027 (IDC, Gartner blend).</a:t>
            </a:r>
          </a:p>
        </p:txBody>
      </p:sp>
      <p:sp>
        <p:nvSpPr>
          <p:cNvPr id="14" name="Rounded Rectangle 13"/>
          <p:cNvSpPr/>
          <p:nvPr/>
        </p:nvSpPr>
        <p:spPr>
          <a:xfrm>
            <a:off x="4297680" y="1828800"/>
            <a:ext cx="3566160" cy="27889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828800"/>
            <a:ext cx="3566160" cy="109728"/>
          </a:xfrm>
          <a:prstGeom prst="rect">
            <a:avLst/>
          </a:prstGeom>
          <a:solidFill>
            <a:srgbClr val="12B7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194560"/>
            <a:ext cx="3017520" cy="365760"/>
          </a:xfrm>
          <a:prstGeom prst="rect">
            <a:avLst/>
          </a:prstGeom>
          <a:noFill/>
        </p:spPr>
        <p:txBody>
          <a:bodyPr wrap="square" lIns="0" rIns="0" tIns="0" bIns="0" anchor="t">
            <a:spAutoFit/>
          </a:bodyPr>
          <a:lstStyle/>
          <a:p>
            <a:pPr algn="l"/>
            <a:r>
              <a:rPr sz="1100" b="1">
                <a:solidFill>
                  <a:srgbClr val="12B79C"/>
                </a:solidFill>
                <a:latin typeface="Segoe UI"/>
              </a:rPr>
              <a:t>SAM</a:t>
            </a:r>
          </a:p>
        </p:txBody>
      </p:sp>
      <p:sp>
        <p:nvSpPr>
          <p:cNvPr id="17" name="TextBox 16"/>
          <p:cNvSpPr txBox="1"/>
          <p:nvPr/>
        </p:nvSpPr>
        <p:spPr>
          <a:xfrm>
            <a:off x="4572000" y="2606040"/>
            <a:ext cx="3017520" cy="1097280"/>
          </a:xfrm>
          <a:prstGeom prst="rect">
            <a:avLst/>
          </a:prstGeom>
          <a:noFill/>
        </p:spPr>
        <p:txBody>
          <a:bodyPr wrap="square" lIns="0" rIns="0" tIns="0" bIns="0" anchor="t">
            <a:spAutoFit/>
          </a:bodyPr>
          <a:lstStyle/>
          <a:p>
            <a:pPr algn="l"/>
            <a:r>
              <a:rPr sz="3600" b="1">
                <a:solidFill>
                  <a:srgbClr val="0B1F3A"/>
                </a:solidFill>
                <a:latin typeface="Segoe UI"/>
              </a:rPr>
              <a:t>$3.6B</a:t>
            </a:r>
          </a:p>
        </p:txBody>
      </p:sp>
      <p:sp>
        <p:nvSpPr>
          <p:cNvPr id="18" name="TextBox 17"/>
          <p:cNvSpPr txBox="1"/>
          <p:nvPr/>
        </p:nvSpPr>
        <p:spPr>
          <a:xfrm>
            <a:off x="4572000" y="3703319"/>
            <a:ext cx="3017520" cy="731520"/>
          </a:xfrm>
          <a:prstGeom prst="rect">
            <a:avLst/>
          </a:prstGeom>
          <a:noFill/>
        </p:spPr>
        <p:txBody>
          <a:bodyPr wrap="square" lIns="0" rIns="0" tIns="0" bIns="0" anchor="t">
            <a:spAutoFit/>
          </a:bodyPr>
          <a:lstStyle/>
          <a:p>
            <a:pPr algn="l"/>
            <a:r>
              <a:rPr sz="1100" b="0">
                <a:solidFill>
                  <a:srgbClr val="334E68"/>
                </a:solidFill>
                <a:latin typeface="Segoe UI"/>
              </a:rPr>
              <a:t>Enterprises standardised on Microsoft Fabric / OneLake, 19k+ orgs and growing 60% YoY.</a:t>
            </a:r>
          </a:p>
        </p:txBody>
      </p:sp>
      <p:sp>
        <p:nvSpPr>
          <p:cNvPr id="19" name="Rounded Rectangle 18"/>
          <p:cNvSpPr/>
          <p:nvPr/>
        </p:nvSpPr>
        <p:spPr>
          <a:xfrm>
            <a:off x="7955279" y="1828800"/>
            <a:ext cx="3566160" cy="27889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1828800"/>
            <a:ext cx="3566160" cy="109728"/>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9" y="2194560"/>
            <a:ext cx="3017520" cy="365760"/>
          </a:xfrm>
          <a:prstGeom prst="rect">
            <a:avLst/>
          </a:prstGeom>
          <a:noFill/>
        </p:spPr>
        <p:txBody>
          <a:bodyPr wrap="square" lIns="0" rIns="0" tIns="0" bIns="0" anchor="t">
            <a:spAutoFit/>
          </a:bodyPr>
          <a:lstStyle/>
          <a:p>
            <a:pPr algn="l"/>
            <a:r>
              <a:rPr sz="1100" b="1">
                <a:solidFill>
                  <a:srgbClr val="F2A31B"/>
                </a:solidFill>
                <a:latin typeface="Segoe UI"/>
              </a:rPr>
              <a:t>SOM (5 yr)</a:t>
            </a:r>
          </a:p>
        </p:txBody>
      </p:sp>
      <p:sp>
        <p:nvSpPr>
          <p:cNvPr id="22" name="TextBox 21"/>
          <p:cNvSpPr txBox="1"/>
          <p:nvPr/>
        </p:nvSpPr>
        <p:spPr>
          <a:xfrm>
            <a:off x="8229599" y="2606040"/>
            <a:ext cx="3017520" cy="1097280"/>
          </a:xfrm>
          <a:prstGeom prst="rect">
            <a:avLst/>
          </a:prstGeom>
          <a:noFill/>
        </p:spPr>
        <p:txBody>
          <a:bodyPr wrap="square" lIns="0" rIns="0" tIns="0" bIns="0" anchor="t">
            <a:spAutoFit/>
          </a:bodyPr>
          <a:lstStyle/>
          <a:p>
            <a:pPr algn="l"/>
            <a:r>
              <a:rPr sz="3600" b="1">
                <a:solidFill>
                  <a:srgbClr val="0B1F3A"/>
                </a:solidFill>
                <a:latin typeface="Segoe UI"/>
              </a:rPr>
              <a:t>$220M</a:t>
            </a:r>
          </a:p>
        </p:txBody>
      </p:sp>
      <p:sp>
        <p:nvSpPr>
          <p:cNvPr id="23" name="TextBox 22"/>
          <p:cNvSpPr txBox="1"/>
          <p:nvPr/>
        </p:nvSpPr>
        <p:spPr>
          <a:xfrm>
            <a:off x="8229599" y="3703319"/>
            <a:ext cx="3017520" cy="731520"/>
          </a:xfrm>
          <a:prstGeom prst="rect">
            <a:avLst/>
          </a:prstGeom>
          <a:noFill/>
        </p:spPr>
        <p:txBody>
          <a:bodyPr wrap="square" lIns="0" rIns="0" tIns="0" bIns="0" anchor="t">
            <a:spAutoFit/>
          </a:bodyPr>
          <a:lstStyle/>
          <a:p>
            <a:pPr algn="l"/>
            <a:r>
              <a:rPr sz="1100" b="0">
                <a:solidFill>
                  <a:srgbClr val="334E68"/>
                </a:solidFill>
                <a:latin typeface="Segoe UI"/>
              </a:rPr>
              <a:t>Top 2,000 Fabric tenants at $110k ACV — conservative 6% penetration via Marketplace + MS co-sell.</a:t>
            </a:r>
          </a:p>
        </p:txBody>
      </p:sp>
      <p:sp>
        <p:nvSpPr>
          <p:cNvPr id="24" name="Rounded Rectangle 23"/>
          <p:cNvSpPr/>
          <p:nvPr/>
        </p:nvSpPr>
        <p:spPr>
          <a:xfrm>
            <a:off x="640080" y="4800600"/>
            <a:ext cx="10881360" cy="1554480"/>
          </a:xfrm>
          <a:prstGeom prst="roundRect">
            <a:avLst>
              <a:gd name="adj" fmla="val 6000"/>
            </a:avLst>
          </a:prstGeom>
          <a:solidFill>
            <a:srgbClr val="F6F8FB"/>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37760"/>
            <a:ext cx="10058400" cy="365760"/>
          </a:xfrm>
          <a:prstGeom prst="rect">
            <a:avLst/>
          </a:prstGeom>
          <a:noFill/>
        </p:spPr>
        <p:txBody>
          <a:bodyPr wrap="square" lIns="0" rIns="0" tIns="0" bIns="0" anchor="t">
            <a:spAutoFit/>
          </a:bodyPr>
          <a:lstStyle/>
          <a:p>
            <a:pPr algn="l"/>
            <a:r>
              <a:rPr sz="1300" b="1">
                <a:solidFill>
                  <a:srgbClr val="0B1F3A"/>
                </a:solidFill>
                <a:latin typeface="Segoe UI"/>
              </a:rPr>
              <a:t>Go-to-market</a:t>
            </a:r>
          </a:p>
        </p:txBody>
      </p:sp>
      <p:sp>
        <p:nvSpPr>
          <p:cNvPr id="26" name="TextBox 25"/>
          <p:cNvSpPr txBox="1"/>
          <p:nvPr/>
        </p:nvSpPr>
        <p:spPr>
          <a:xfrm>
            <a:off x="914400" y="5349240"/>
            <a:ext cx="3474720" cy="274320"/>
          </a:xfrm>
          <a:prstGeom prst="rect">
            <a:avLst/>
          </a:prstGeom>
          <a:noFill/>
        </p:spPr>
        <p:txBody>
          <a:bodyPr wrap="square" lIns="0" rIns="0" tIns="0" bIns="0" anchor="t">
            <a:spAutoFit/>
          </a:bodyPr>
          <a:lstStyle/>
          <a:p>
            <a:pPr algn="l"/>
            <a:r>
              <a:rPr sz="1150" b="1">
                <a:solidFill>
                  <a:srgbClr val="0B5CA8"/>
                </a:solidFill>
                <a:latin typeface="Segoe UI"/>
              </a:rPr>
              <a:t>Fabric Marketplace</a:t>
            </a:r>
          </a:p>
        </p:txBody>
      </p:sp>
      <p:sp>
        <p:nvSpPr>
          <p:cNvPr id="27" name="TextBox 26"/>
          <p:cNvSpPr txBox="1"/>
          <p:nvPr/>
        </p:nvSpPr>
        <p:spPr>
          <a:xfrm>
            <a:off x="914400" y="5641848"/>
            <a:ext cx="3474720" cy="640080"/>
          </a:xfrm>
          <a:prstGeom prst="rect">
            <a:avLst/>
          </a:prstGeom>
          <a:noFill/>
        </p:spPr>
        <p:txBody>
          <a:bodyPr wrap="square" lIns="0" rIns="0" tIns="0" bIns="0" anchor="t">
            <a:spAutoFit/>
          </a:bodyPr>
          <a:lstStyle/>
          <a:p>
            <a:pPr algn="l"/>
            <a:r>
              <a:rPr sz="1050" b="0">
                <a:solidFill>
                  <a:srgbClr val="334E68"/>
                </a:solidFill>
                <a:latin typeface="Segoe UI"/>
              </a:rPr>
              <a:t>1-click install, transactable, MACC-eligible (Microsoft Azure Consumption Commitment).</a:t>
            </a:r>
          </a:p>
        </p:txBody>
      </p:sp>
      <p:sp>
        <p:nvSpPr>
          <p:cNvPr id="28" name="TextBox 27"/>
          <p:cNvSpPr txBox="1"/>
          <p:nvPr/>
        </p:nvSpPr>
        <p:spPr>
          <a:xfrm>
            <a:off x="4572000" y="5349240"/>
            <a:ext cx="3474720" cy="274320"/>
          </a:xfrm>
          <a:prstGeom prst="rect">
            <a:avLst/>
          </a:prstGeom>
          <a:noFill/>
        </p:spPr>
        <p:txBody>
          <a:bodyPr wrap="square" lIns="0" rIns="0" tIns="0" bIns="0" anchor="t">
            <a:spAutoFit/>
          </a:bodyPr>
          <a:lstStyle/>
          <a:p>
            <a:pPr algn="l"/>
            <a:r>
              <a:rPr sz="1150" b="1">
                <a:solidFill>
                  <a:srgbClr val="0B5CA8"/>
                </a:solidFill>
                <a:latin typeface="Segoe UI"/>
              </a:rPr>
              <a:t>Co-sell with Microsoft</a:t>
            </a:r>
          </a:p>
        </p:txBody>
      </p:sp>
      <p:sp>
        <p:nvSpPr>
          <p:cNvPr id="29" name="TextBox 28"/>
          <p:cNvSpPr txBox="1"/>
          <p:nvPr/>
        </p:nvSpPr>
        <p:spPr>
          <a:xfrm>
            <a:off x="4572000" y="5641848"/>
            <a:ext cx="3474720" cy="640080"/>
          </a:xfrm>
          <a:prstGeom prst="rect">
            <a:avLst/>
          </a:prstGeom>
          <a:noFill/>
        </p:spPr>
        <p:txBody>
          <a:bodyPr wrap="square" lIns="0" rIns="0" tIns="0" bIns="0" anchor="t">
            <a:spAutoFit/>
          </a:bodyPr>
          <a:lstStyle/>
          <a:p>
            <a:pPr algn="l"/>
            <a:r>
              <a:rPr sz="1050" b="0">
                <a:solidFill>
                  <a:srgbClr val="334E68"/>
                </a:solidFill>
                <a:latin typeface="Segoe UI"/>
              </a:rPr>
              <a:t>Aligned to Fabric ISV motion; Field Engagement program qualified.</a:t>
            </a:r>
          </a:p>
        </p:txBody>
      </p:sp>
      <p:sp>
        <p:nvSpPr>
          <p:cNvPr id="30" name="TextBox 29"/>
          <p:cNvSpPr txBox="1"/>
          <p:nvPr/>
        </p:nvSpPr>
        <p:spPr>
          <a:xfrm>
            <a:off x="8229600" y="5349240"/>
            <a:ext cx="3474720" cy="274320"/>
          </a:xfrm>
          <a:prstGeom prst="rect">
            <a:avLst/>
          </a:prstGeom>
          <a:noFill/>
        </p:spPr>
        <p:txBody>
          <a:bodyPr wrap="square" lIns="0" rIns="0" tIns="0" bIns="0" anchor="t">
            <a:spAutoFit/>
          </a:bodyPr>
          <a:lstStyle/>
          <a:p>
            <a:pPr algn="l"/>
            <a:r>
              <a:rPr sz="1150" b="1">
                <a:solidFill>
                  <a:srgbClr val="0B5CA8"/>
                </a:solidFill>
                <a:latin typeface="Segoe UI"/>
              </a:rPr>
              <a:t>PLG → enterprise</a:t>
            </a:r>
          </a:p>
        </p:txBody>
      </p:sp>
      <p:sp>
        <p:nvSpPr>
          <p:cNvPr id="31" name="TextBox 30"/>
          <p:cNvSpPr txBox="1"/>
          <p:nvPr/>
        </p:nvSpPr>
        <p:spPr>
          <a:xfrm>
            <a:off x="8229600" y="5641848"/>
            <a:ext cx="3474720" cy="640080"/>
          </a:xfrm>
          <a:prstGeom prst="rect">
            <a:avLst/>
          </a:prstGeom>
          <a:noFill/>
        </p:spPr>
        <p:txBody>
          <a:bodyPr wrap="square" lIns="0" rIns="0" tIns="0" bIns="0" anchor="t">
            <a:spAutoFit/>
          </a:bodyPr>
          <a:lstStyle/>
          <a:p>
            <a:pPr algn="l"/>
            <a:r>
              <a:rPr sz="1050" b="0">
                <a:solidFill>
                  <a:srgbClr val="334E68"/>
                </a:solidFill>
                <a:latin typeface="Segoe UI"/>
              </a:rPr>
              <a:t>Free contract authoring, paid enforcement + AI suggest + audit retention.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TRACTION</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Shipped, green, and Marketplace-ready.</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12 / 14</a:t>
            </a:r>
          </a:p>
        </p:txBody>
      </p:sp>
      <p:sp>
        <p:nvSpPr>
          <p:cNvPr id="9" name="Rounded Rectangle 8"/>
          <p:cNvSpPr/>
          <p:nvPr/>
        </p:nvSpPr>
        <p:spPr>
          <a:xfrm>
            <a:off x="640080" y="1828800"/>
            <a:ext cx="2651760" cy="14173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91440" cy="1417320"/>
          </a:xfrm>
          <a:prstGeom prst="rect">
            <a:avLst/>
          </a:prstGeom>
          <a:solidFill>
            <a:srgbClr val="12B7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993392"/>
            <a:ext cx="2286000" cy="640080"/>
          </a:xfrm>
          <a:prstGeom prst="rect">
            <a:avLst/>
          </a:prstGeom>
          <a:noFill/>
        </p:spPr>
        <p:txBody>
          <a:bodyPr wrap="square" lIns="0" rIns="0" tIns="0" bIns="0" anchor="t">
            <a:spAutoFit/>
          </a:bodyPr>
          <a:lstStyle/>
          <a:p>
            <a:pPr algn="l"/>
            <a:r>
              <a:rPr sz="3000" b="1">
                <a:solidFill>
                  <a:srgbClr val="12B79C"/>
                </a:solidFill>
                <a:latin typeface="Segoe UI"/>
              </a:rPr>
              <a:t>263</a:t>
            </a:r>
          </a:p>
        </p:txBody>
      </p:sp>
      <p:sp>
        <p:nvSpPr>
          <p:cNvPr id="12" name="TextBox 11"/>
          <p:cNvSpPr txBox="1"/>
          <p:nvPr/>
        </p:nvSpPr>
        <p:spPr>
          <a:xfrm>
            <a:off x="868680" y="2697480"/>
            <a:ext cx="2286000" cy="457200"/>
          </a:xfrm>
          <a:prstGeom prst="rect">
            <a:avLst/>
          </a:prstGeom>
          <a:noFill/>
        </p:spPr>
        <p:txBody>
          <a:bodyPr wrap="square" lIns="0" rIns="0" tIns="0" bIns="0" anchor="t">
            <a:spAutoFit/>
          </a:bodyPr>
          <a:lstStyle/>
          <a:p>
            <a:pPr algn="l"/>
            <a:r>
              <a:rPr sz="1100" b="0">
                <a:solidFill>
                  <a:srgbClr val="334E68"/>
                </a:solidFill>
                <a:latin typeface="Segoe UI"/>
              </a:rPr>
              <a:t>backend tests passing</a:t>
            </a:r>
          </a:p>
        </p:txBody>
      </p:sp>
      <p:sp>
        <p:nvSpPr>
          <p:cNvPr id="13" name="Rounded Rectangle 12"/>
          <p:cNvSpPr/>
          <p:nvPr/>
        </p:nvSpPr>
        <p:spPr>
          <a:xfrm>
            <a:off x="3429000" y="1828800"/>
            <a:ext cx="2651760" cy="14173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828800"/>
            <a:ext cx="91440" cy="141732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1993392"/>
            <a:ext cx="2286000" cy="640080"/>
          </a:xfrm>
          <a:prstGeom prst="rect">
            <a:avLst/>
          </a:prstGeom>
          <a:noFill/>
        </p:spPr>
        <p:txBody>
          <a:bodyPr wrap="square" lIns="0" rIns="0" tIns="0" bIns="0" anchor="t">
            <a:spAutoFit/>
          </a:bodyPr>
          <a:lstStyle/>
          <a:p>
            <a:pPr algn="l"/>
            <a:r>
              <a:rPr sz="3000" b="1">
                <a:solidFill>
                  <a:srgbClr val="1177D1"/>
                </a:solidFill>
                <a:latin typeface="Segoe UI"/>
              </a:rPr>
              <a:t>93.8%</a:t>
            </a:r>
          </a:p>
        </p:txBody>
      </p:sp>
      <p:sp>
        <p:nvSpPr>
          <p:cNvPr id="16" name="TextBox 15"/>
          <p:cNvSpPr txBox="1"/>
          <p:nvPr/>
        </p:nvSpPr>
        <p:spPr>
          <a:xfrm>
            <a:off x="3657600" y="2697480"/>
            <a:ext cx="2286000" cy="457200"/>
          </a:xfrm>
          <a:prstGeom prst="rect">
            <a:avLst/>
          </a:prstGeom>
          <a:noFill/>
        </p:spPr>
        <p:txBody>
          <a:bodyPr wrap="square" lIns="0" rIns="0" tIns="0" bIns="0" anchor="t">
            <a:spAutoFit/>
          </a:bodyPr>
          <a:lstStyle/>
          <a:p>
            <a:pPr algn="l"/>
            <a:r>
              <a:rPr sz="1100" b="0">
                <a:solidFill>
                  <a:srgbClr val="334E68"/>
                </a:solidFill>
                <a:latin typeface="Segoe UI"/>
              </a:rPr>
              <a:t>frontend coverage in critical paths</a:t>
            </a:r>
          </a:p>
        </p:txBody>
      </p:sp>
      <p:sp>
        <p:nvSpPr>
          <p:cNvPr id="17" name="Rounded Rectangle 16"/>
          <p:cNvSpPr/>
          <p:nvPr/>
        </p:nvSpPr>
        <p:spPr>
          <a:xfrm>
            <a:off x="6217920" y="1828800"/>
            <a:ext cx="2651760" cy="14173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828800"/>
            <a:ext cx="91440" cy="141732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993392"/>
            <a:ext cx="2286000" cy="640080"/>
          </a:xfrm>
          <a:prstGeom prst="rect">
            <a:avLst/>
          </a:prstGeom>
          <a:noFill/>
        </p:spPr>
        <p:txBody>
          <a:bodyPr wrap="square" lIns="0" rIns="0" tIns="0" bIns="0" anchor="t">
            <a:spAutoFit/>
          </a:bodyPr>
          <a:lstStyle/>
          <a:p>
            <a:pPr algn="l"/>
            <a:r>
              <a:rPr sz="3000" b="1">
                <a:solidFill>
                  <a:srgbClr val="F2A31B"/>
                </a:solidFill>
                <a:latin typeface="Segoe UI"/>
              </a:rPr>
              <a:t>ODCS 3.1.0</a:t>
            </a:r>
          </a:p>
        </p:txBody>
      </p:sp>
      <p:sp>
        <p:nvSpPr>
          <p:cNvPr id="20" name="TextBox 19"/>
          <p:cNvSpPr txBox="1"/>
          <p:nvPr/>
        </p:nvSpPr>
        <p:spPr>
          <a:xfrm>
            <a:off x="6446520" y="2697480"/>
            <a:ext cx="2286000" cy="457200"/>
          </a:xfrm>
          <a:prstGeom prst="rect">
            <a:avLst/>
          </a:prstGeom>
          <a:noFill/>
        </p:spPr>
        <p:txBody>
          <a:bodyPr wrap="square" lIns="0" rIns="0" tIns="0" bIns="0" anchor="t">
            <a:spAutoFit/>
          </a:bodyPr>
          <a:lstStyle/>
          <a:p>
            <a:pPr algn="l"/>
            <a:r>
              <a:rPr sz="1100" b="0">
                <a:solidFill>
                  <a:srgbClr val="334E68"/>
                </a:solidFill>
                <a:latin typeface="Segoe UI"/>
              </a:rPr>
              <a:t>schema-validated, end-to-end</a:t>
            </a:r>
          </a:p>
        </p:txBody>
      </p:sp>
      <p:sp>
        <p:nvSpPr>
          <p:cNvPr id="21" name="Rounded Rectangle 20"/>
          <p:cNvSpPr/>
          <p:nvPr/>
        </p:nvSpPr>
        <p:spPr>
          <a:xfrm>
            <a:off x="9006840" y="1828800"/>
            <a:ext cx="2651760" cy="14173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06840" y="1828800"/>
            <a:ext cx="91440" cy="1417320"/>
          </a:xfrm>
          <a:prstGeom prst="rect">
            <a:avLst/>
          </a:prstGeom>
          <a:solidFill>
            <a:srgbClr val="E04B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993392"/>
            <a:ext cx="2286000" cy="640080"/>
          </a:xfrm>
          <a:prstGeom prst="rect">
            <a:avLst/>
          </a:prstGeom>
          <a:noFill/>
        </p:spPr>
        <p:txBody>
          <a:bodyPr wrap="square" lIns="0" rIns="0" tIns="0" bIns="0" anchor="t">
            <a:spAutoFit/>
          </a:bodyPr>
          <a:lstStyle/>
          <a:p>
            <a:pPr algn="l"/>
            <a:r>
              <a:rPr sz="3000" b="1">
                <a:solidFill>
                  <a:srgbClr val="E04B53"/>
                </a:solidFill>
                <a:latin typeface="Segoe UI"/>
              </a:rPr>
              <a:t>Pixel-perfect</a:t>
            </a:r>
          </a:p>
        </p:txBody>
      </p:sp>
      <p:sp>
        <p:nvSpPr>
          <p:cNvPr id="24" name="TextBox 23"/>
          <p:cNvSpPr txBox="1"/>
          <p:nvPr/>
        </p:nvSpPr>
        <p:spPr>
          <a:xfrm>
            <a:off x="9235440" y="2697480"/>
            <a:ext cx="2286000" cy="457200"/>
          </a:xfrm>
          <a:prstGeom prst="rect">
            <a:avLst/>
          </a:prstGeom>
          <a:noFill/>
        </p:spPr>
        <p:txBody>
          <a:bodyPr wrap="square" lIns="0" rIns="0" tIns="0" bIns="0" anchor="t">
            <a:spAutoFit/>
          </a:bodyPr>
          <a:lstStyle/>
          <a:p>
            <a:pPr algn="l"/>
            <a:r>
              <a:rPr sz="1100" b="0">
                <a:solidFill>
                  <a:srgbClr val="334E68"/>
                </a:solidFill>
                <a:latin typeface="Segoe UI"/>
              </a:rPr>
              <a:t>Fluent v9, principal-designer reviewed</a:t>
            </a:r>
          </a:p>
        </p:txBody>
      </p:sp>
      <p:sp>
        <p:nvSpPr>
          <p:cNvPr id="25" name="Rounded Rectangle 24"/>
          <p:cNvSpPr/>
          <p:nvPr/>
        </p:nvSpPr>
        <p:spPr>
          <a:xfrm>
            <a:off x="640080" y="3520440"/>
            <a:ext cx="10881360" cy="278892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703320"/>
            <a:ext cx="10058400" cy="365760"/>
          </a:xfrm>
          <a:prstGeom prst="rect">
            <a:avLst/>
          </a:prstGeom>
          <a:noFill/>
        </p:spPr>
        <p:txBody>
          <a:bodyPr wrap="square" lIns="0" rIns="0" tIns="0" bIns="0" anchor="t">
            <a:spAutoFit/>
          </a:bodyPr>
          <a:lstStyle/>
          <a:p>
            <a:pPr algn="l"/>
            <a:r>
              <a:rPr sz="1300" b="1">
                <a:solidFill>
                  <a:srgbClr val="0B1F3A"/>
                </a:solidFill>
                <a:latin typeface="Segoe UI"/>
              </a:rPr>
              <a:t>Recent milestones</a:t>
            </a:r>
          </a:p>
        </p:txBody>
      </p:sp>
      <p:sp>
        <p:nvSpPr>
          <p:cNvPr id="27" name="TextBox 26"/>
          <p:cNvSpPr txBox="1"/>
          <p:nvPr/>
        </p:nvSpPr>
        <p:spPr>
          <a:xfrm>
            <a:off x="914400" y="4114800"/>
            <a:ext cx="10424160" cy="2194560"/>
          </a:xfrm>
          <a:prstGeom prst="rect">
            <a:avLst/>
          </a:prstGeom>
          <a:noFill/>
        </p:spPr>
        <p:txBody>
          <a:bodyPr wrap="square" lIns="0" rIns="0" tIns="0" bIns="0">
            <a:spAutoFit/>
          </a:bodyPr>
          <a:lstStyle/>
          <a:p>
            <a:pPr algn="l">
              <a:lnSpc>
                <a:spcPct val="115000"/>
              </a:lnSpc>
              <a:spcAft>
                <a:spcPts val="400"/>
              </a:spcAft>
            </a:pPr>
            <a:r>
              <a:rPr sz="1150" b="1">
                <a:solidFill>
                  <a:srgbClr val="1177D1"/>
                </a:solidFill>
                <a:latin typeface="Segoe UI"/>
              </a:rPr>
              <a:t>■ </a:t>
            </a:r>
            <a:r>
              <a:rPr sz="1150" b="1">
                <a:solidFill>
                  <a:srgbClr val="0B1F3A"/>
                </a:solidFill>
                <a:latin typeface="Segoe UI"/>
              </a:rPr>
              <a:t>UI / UX overhaul  </a:t>
            </a:r>
            <a:r>
              <a:rPr sz="1150">
                <a:solidFill>
                  <a:srgbClr val="0B1F3A"/>
                </a:solidFill>
                <a:latin typeface="Segoe UI"/>
              </a:rPr>
              <a:t>Pixel-perfect Fluent UI v9 sweep across every page — Fabric portal indistinguishable.</a:t>
            </a:r>
          </a:p>
          <a:p>
            <a:pPr algn="l">
              <a:lnSpc>
                <a:spcPct val="115000"/>
              </a:lnSpc>
              <a:spcAft>
                <a:spcPts val="400"/>
              </a:spcAft>
            </a:pPr>
            <a:r>
              <a:rPr sz="1150" b="1">
                <a:solidFill>
                  <a:srgbClr val="1177D1"/>
                </a:solidFill>
                <a:latin typeface="Segoe UI"/>
              </a:rPr>
              <a:t>■ </a:t>
            </a:r>
            <a:r>
              <a:rPr sz="1150" b="1">
                <a:solidFill>
                  <a:srgbClr val="0B1F3A"/>
                </a:solidFill>
                <a:latin typeface="Segoe UI"/>
              </a:rPr>
              <a:t>CI green for the first time in months  </a:t>
            </a:r>
            <a:r>
              <a:rPr sz="1150">
                <a:solidFill>
                  <a:srgbClr val="0B1F3A"/>
                </a:solidFill>
                <a:latin typeface="Segoe UI"/>
              </a:rPr>
              <a:t>Resolved 7 pre-existing pipeline gates (CSP, lint, dotnet format, trivy, NuGet vulns, coverage, Bicep drift).</a:t>
            </a:r>
          </a:p>
          <a:p>
            <a:pPr algn="l">
              <a:lnSpc>
                <a:spcPct val="115000"/>
              </a:lnSpc>
              <a:spcAft>
                <a:spcPts val="400"/>
              </a:spcAft>
            </a:pPr>
            <a:r>
              <a:rPr sz="1150" b="1">
                <a:solidFill>
                  <a:srgbClr val="1177D1"/>
                </a:solidFill>
                <a:latin typeface="Segoe UI"/>
              </a:rPr>
              <a:t>■ </a:t>
            </a:r>
            <a:r>
              <a:rPr sz="1150" b="1">
                <a:solidFill>
                  <a:srgbClr val="0B1F3A"/>
                </a:solidFill>
                <a:latin typeface="Segoe UI"/>
              </a:rPr>
              <a:t>Data Security for AI  </a:t>
            </a:r>
            <a:r>
              <a:rPr sz="1150">
                <a:solidFill>
                  <a:srgbClr val="0B1F3A"/>
                </a:solidFill>
                <a:latin typeface="Segoe UI"/>
              </a:rPr>
              <a:t>Differentiation map vs Purview/Collibra/Informatica; PII classifier wired to AI suggest.</a:t>
            </a:r>
          </a:p>
          <a:p>
            <a:pPr algn="l">
              <a:lnSpc>
                <a:spcPct val="115000"/>
              </a:lnSpc>
              <a:spcAft>
                <a:spcPts val="400"/>
              </a:spcAft>
            </a:pPr>
            <a:r>
              <a:rPr sz="1150" b="1">
                <a:solidFill>
                  <a:srgbClr val="1177D1"/>
                </a:solidFill>
                <a:latin typeface="Segoe UI"/>
              </a:rPr>
              <a:t>■ </a:t>
            </a:r>
            <a:r>
              <a:rPr sz="1150" b="1">
                <a:solidFill>
                  <a:srgbClr val="0B1F3A"/>
                </a:solidFill>
                <a:latin typeface="Segoe UI"/>
              </a:rPr>
              <a:t>Complex scenarios suite  </a:t>
            </a:r>
            <a:r>
              <a:rPr sz="1150">
                <a:solidFill>
                  <a:srgbClr val="0B1F3A"/>
                </a:solidFill>
                <a:latin typeface="Segoe UI"/>
              </a:rPr>
              <a:t>ODCS contracts validated end-to-end on real customer-shape data (knowledge graphs, ontologies, multi-table entities).</a:t>
            </a:r>
          </a:p>
          <a:p>
            <a:pPr algn="l">
              <a:lnSpc>
                <a:spcPct val="115000"/>
              </a:lnSpc>
              <a:spcAft>
                <a:spcPts val="400"/>
              </a:spcAft>
            </a:pPr>
            <a:r>
              <a:rPr sz="1150" b="1">
                <a:solidFill>
                  <a:srgbClr val="1177D1"/>
                </a:solidFill>
                <a:latin typeface="Segoe UI"/>
              </a:rPr>
              <a:t>■ </a:t>
            </a:r>
            <a:r>
              <a:rPr sz="1150" b="1">
                <a:solidFill>
                  <a:srgbClr val="0B1F3A"/>
                </a:solidFill>
                <a:latin typeface="Segoe UI"/>
              </a:rPr>
              <a:t>Live Fabric workload  </a:t>
            </a:r>
            <a:r>
              <a:rPr sz="1150">
                <a:solidFill>
                  <a:srgbClr val="0B1F3A"/>
                </a:solidFill>
                <a:latin typeface="Segoe UI"/>
              </a:rPr>
              <a:t>Listed in workload hub; OBO-authenticated; contract → run → report flow demoable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ROADMAP</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Where the next four quarters take us.</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13 / 14</a:t>
            </a:r>
          </a:p>
        </p:txBody>
      </p:sp>
      <p:sp>
        <p:nvSpPr>
          <p:cNvPr id="9" name="Rounded Rectangle 8"/>
          <p:cNvSpPr/>
          <p:nvPr/>
        </p:nvSpPr>
        <p:spPr>
          <a:xfrm>
            <a:off x="640080" y="1828800"/>
            <a:ext cx="3611880" cy="42976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3611880" cy="54864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28800"/>
            <a:ext cx="3611880" cy="548640"/>
          </a:xfrm>
          <a:prstGeom prst="rect">
            <a:avLst/>
          </a:prstGeom>
          <a:noFill/>
        </p:spPr>
        <p:txBody>
          <a:bodyPr wrap="square" lIns="0" rIns="0" tIns="0" bIns="0" anchor="ctr">
            <a:spAutoFit/>
          </a:bodyPr>
          <a:lstStyle/>
          <a:p>
            <a:pPr algn="ctr"/>
            <a:r>
              <a:rPr sz="1400" b="1">
                <a:solidFill>
                  <a:srgbClr val="FFFFFF"/>
                </a:solidFill>
                <a:latin typeface="Segoe UI"/>
              </a:rPr>
              <a:t>Now</a:t>
            </a:r>
          </a:p>
        </p:txBody>
      </p:sp>
      <p:sp>
        <p:nvSpPr>
          <p:cNvPr id="12" name="TextBox 11"/>
          <p:cNvSpPr txBox="1"/>
          <p:nvPr/>
        </p:nvSpPr>
        <p:spPr>
          <a:xfrm>
            <a:off x="914400" y="2606040"/>
            <a:ext cx="3063240" cy="457200"/>
          </a:xfrm>
          <a:prstGeom prst="rect">
            <a:avLst/>
          </a:prstGeom>
          <a:noFill/>
        </p:spPr>
        <p:txBody>
          <a:bodyPr wrap="square" lIns="0" rIns="0" tIns="0" bIns="0" anchor="t">
            <a:spAutoFit/>
          </a:bodyPr>
          <a:lstStyle/>
          <a:p>
            <a:pPr algn="l"/>
            <a:r>
              <a:rPr sz="1400" b="1">
                <a:solidFill>
                  <a:srgbClr val="0B1F3A"/>
                </a:solidFill>
                <a:latin typeface="Segoe UI"/>
              </a:rPr>
              <a:t>GA on Fabric Marketplace</a:t>
            </a:r>
          </a:p>
        </p:txBody>
      </p:sp>
      <p:sp>
        <p:nvSpPr>
          <p:cNvPr id="13" name="TextBox 12"/>
          <p:cNvSpPr txBox="1"/>
          <p:nvPr/>
        </p:nvSpPr>
        <p:spPr>
          <a:xfrm>
            <a:off x="914400" y="3200400"/>
            <a:ext cx="3063240" cy="2743200"/>
          </a:xfrm>
          <a:prstGeom prst="rect">
            <a:avLst/>
          </a:prstGeom>
          <a:noFill/>
        </p:spPr>
        <p:txBody>
          <a:bodyPr wrap="square" lIns="0" rIns="0" tIns="0" bIns="0">
            <a:spAutoFit/>
          </a:bodyPr>
          <a:lstStyle/>
          <a:p>
            <a:pPr algn="l">
              <a:lnSpc>
                <a:spcPct val="115000"/>
              </a:lnSpc>
              <a:spcAft>
                <a:spcPts val="400"/>
              </a:spcAft>
            </a:pPr>
            <a:r>
              <a:rPr sz="1150" b="1">
                <a:solidFill>
                  <a:srgbClr val="1177D1"/>
                </a:solidFill>
                <a:latin typeface="Segoe UI"/>
              </a:rPr>
              <a:t>■  </a:t>
            </a:r>
            <a:r>
              <a:rPr sz="1150">
                <a:solidFill>
                  <a:srgbClr val="0B1F3A"/>
                </a:solidFill>
                <a:latin typeface="Segoe UI"/>
              </a:rPr>
              <a:t>ODCS 3.1 enforcement (Lakehouse, Warehouse, SQL)</a:t>
            </a:r>
          </a:p>
          <a:p>
            <a:pPr algn="l">
              <a:lnSpc>
                <a:spcPct val="115000"/>
              </a:lnSpc>
              <a:spcAft>
                <a:spcPts val="400"/>
              </a:spcAft>
            </a:pPr>
            <a:r>
              <a:rPr sz="1150" b="1">
                <a:solidFill>
                  <a:srgbClr val="1177D1"/>
                </a:solidFill>
                <a:latin typeface="Segoe UI"/>
              </a:rPr>
              <a:t>■  </a:t>
            </a:r>
            <a:r>
              <a:rPr sz="1150">
                <a:solidFill>
                  <a:srgbClr val="0B1F3A"/>
                </a:solidFill>
                <a:latin typeface="Segoe UI"/>
              </a:rPr>
              <a:t>AI suggest + Activator alerts</a:t>
            </a:r>
          </a:p>
          <a:p>
            <a:pPr algn="l">
              <a:lnSpc>
                <a:spcPct val="115000"/>
              </a:lnSpc>
              <a:spcAft>
                <a:spcPts val="400"/>
              </a:spcAft>
            </a:pPr>
            <a:r>
              <a:rPr sz="1150" b="1">
                <a:solidFill>
                  <a:srgbClr val="1177D1"/>
                </a:solidFill>
                <a:latin typeface="Segoe UI"/>
              </a:rPr>
              <a:t>■  </a:t>
            </a:r>
            <a:r>
              <a:rPr sz="1150">
                <a:solidFill>
                  <a:srgbClr val="0B1F3A"/>
                </a:solidFill>
                <a:latin typeface="Segoe UI"/>
              </a:rPr>
              <a:t>Audit log + RBAC parity with Fabric</a:t>
            </a:r>
          </a:p>
          <a:p>
            <a:pPr algn="l">
              <a:lnSpc>
                <a:spcPct val="115000"/>
              </a:lnSpc>
              <a:spcAft>
                <a:spcPts val="400"/>
              </a:spcAft>
            </a:pPr>
            <a:r>
              <a:rPr sz="1150" b="1">
                <a:solidFill>
                  <a:srgbClr val="1177D1"/>
                </a:solidFill>
                <a:latin typeface="Segoe UI"/>
              </a:rPr>
              <a:t>■  </a:t>
            </a:r>
            <a:r>
              <a:rPr sz="1150">
                <a:solidFill>
                  <a:srgbClr val="0B1F3A"/>
                </a:solidFill>
                <a:latin typeface="Segoe UI"/>
              </a:rPr>
              <a:t>Co-sell readiness pack</a:t>
            </a:r>
          </a:p>
        </p:txBody>
      </p:sp>
      <p:sp>
        <p:nvSpPr>
          <p:cNvPr id="14" name="Rounded Rectangle 13"/>
          <p:cNvSpPr/>
          <p:nvPr/>
        </p:nvSpPr>
        <p:spPr>
          <a:xfrm>
            <a:off x="4389120" y="1828800"/>
            <a:ext cx="3611880" cy="42976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3611880" cy="548640"/>
          </a:xfrm>
          <a:prstGeom prst="rect">
            <a:avLst/>
          </a:prstGeom>
          <a:solidFill>
            <a:srgbClr val="12B7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1828800"/>
            <a:ext cx="3611880" cy="548640"/>
          </a:xfrm>
          <a:prstGeom prst="rect">
            <a:avLst/>
          </a:prstGeom>
          <a:noFill/>
        </p:spPr>
        <p:txBody>
          <a:bodyPr wrap="square" lIns="0" rIns="0" tIns="0" bIns="0" anchor="ctr">
            <a:spAutoFit/>
          </a:bodyPr>
          <a:lstStyle/>
          <a:p>
            <a:pPr algn="ctr"/>
            <a:r>
              <a:rPr sz="1400" b="1">
                <a:solidFill>
                  <a:srgbClr val="FFFFFF"/>
                </a:solidFill>
                <a:latin typeface="Segoe UI"/>
              </a:rPr>
              <a:t>Next</a:t>
            </a:r>
          </a:p>
        </p:txBody>
      </p:sp>
      <p:sp>
        <p:nvSpPr>
          <p:cNvPr id="17" name="TextBox 16"/>
          <p:cNvSpPr txBox="1"/>
          <p:nvPr/>
        </p:nvSpPr>
        <p:spPr>
          <a:xfrm>
            <a:off x="4663440" y="2606040"/>
            <a:ext cx="3063240" cy="457200"/>
          </a:xfrm>
          <a:prstGeom prst="rect">
            <a:avLst/>
          </a:prstGeom>
          <a:noFill/>
        </p:spPr>
        <p:txBody>
          <a:bodyPr wrap="square" lIns="0" rIns="0" tIns="0" bIns="0" anchor="t">
            <a:spAutoFit/>
          </a:bodyPr>
          <a:lstStyle/>
          <a:p>
            <a:pPr algn="l"/>
            <a:r>
              <a:rPr sz="1400" b="1">
                <a:solidFill>
                  <a:srgbClr val="0B1F3A"/>
                </a:solidFill>
                <a:latin typeface="Segoe UI"/>
              </a:rPr>
              <a:t>Enterprise scale</a:t>
            </a:r>
          </a:p>
        </p:txBody>
      </p:sp>
      <p:sp>
        <p:nvSpPr>
          <p:cNvPr id="18" name="TextBox 17"/>
          <p:cNvSpPr txBox="1"/>
          <p:nvPr/>
        </p:nvSpPr>
        <p:spPr>
          <a:xfrm>
            <a:off x="4663440" y="3200400"/>
            <a:ext cx="3063240" cy="2743200"/>
          </a:xfrm>
          <a:prstGeom prst="rect">
            <a:avLst/>
          </a:prstGeom>
          <a:noFill/>
        </p:spPr>
        <p:txBody>
          <a:bodyPr wrap="square" lIns="0" rIns="0" tIns="0" bIns="0">
            <a:spAutoFit/>
          </a:bodyPr>
          <a:lstStyle/>
          <a:p>
            <a:pPr algn="l">
              <a:lnSpc>
                <a:spcPct val="115000"/>
              </a:lnSpc>
              <a:spcAft>
                <a:spcPts val="400"/>
              </a:spcAft>
            </a:pPr>
            <a:r>
              <a:rPr sz="1150" b="1">
                <a:solidFill>
                  <a:srgbClr val="12B79C"/>
                </a:solidFill>
                <a:latin typeface="Segoe UI"/>
              </a:rPr>
              <a:t>■  </a:t>
            </a:r>
            <a:r>
              <a:rPr sz="1150">
                <a:solidFill>
                  <a:srgbClr val="0B1F3A"/>
                </a:solidFill>
                <a:latin typeface="Segoe UI"/>
              </a:rPr>
              <a:t>Eventhouse / KQL contracts</a:t>
            </a:r>
          </a:p>
          <a:p>
            <a:pPr algn="l">
              <a:lnSpc>
                <a:spcPct val="115000"/>
              </a:lnSpc>
              <a:spcAft>
                <a:spcPts val="400"/>
              </a:spcAft>
            </a:pPr>
            <a:r>
              <a:rPr sz="1150" b="1">
                <a:solidFill>
                  <a:srgbClr val="12B79C"/>
                </a:solidFill>
                <a:latin typeface="Segoe UI"/>
              </a:rPr>
              <a:t>■  </a:t>
            </a:r>
            <a:r>
              <a:rPr sz="1150">
                <a:solidFill>
                  <a:srgbClr val="0B1F3A"/>
                </a:solidFill>
                <a:latin typeface="Segoe UI"/>
              </a:rPr>
              <a:t>Cross-tenant contract sharing</a:t>
            </a:r>
          </a:p>
          <a:p>
            <a:pPr algn="l">
              <a:lnSpc>
                <a:spcPct val="115000"/>
              </a:lnSpc>
              <a:spcAft>
                <a:spcPts val="400"/>
              </a:spcAft>
            </a:pPr>
            <a:r>
              <a:rPr sz="1150" b="1">
                <a:solidFill>
                  <a:srgbClr val="12B79C"/>
                </a:solidFill>
                <a:latin typeface="Segoe UI"/>
              </a:rPr>
              <a:t>■  </a:t>
            </a:r>
            <a:r>
              <a:rPr sz="1150">
                <a:solidFill>
                  <a:srgbClr val="0B1F3A"/>
                </a:solidFill>
                <a:latin typeface="Segoe UI"/>
              </a:rPr>
              <a:t>Quarantine + auto-remediate</a:t>
            </a:r>
          </a:p>
          <a:p>
            <a:pPr algn="l">
              <a:lnSpc>
                <a:spcPct val="115000"/>
              </a:lnSpc>
              <a:spcAft>
                <a:spcPts val="400"/>
              </a:spcAft>
            </a:pPr>
            <a:r>
              <a:rPr sz="1150" b="1">
                <a:solidFill>
                  <a:srgbClr val="12B79C"/>
                </a:solidFill>
                <a:latin typeface="Segoe UI"/>
              </a:rPr>
              <a:t>■  </a:t>
            </a:r>
            <a:r>
              <a:rPr sz="1150">
                <a:solidFill>
                  <a:srgbClr val="0B1F3A"/>
                </a:solidFill>
                <a:latin typeface="Segoe UI"/>
              </a:rPr>
              <a:t>SOC 2 Type II</a:t>
            </a:r>
          </a:p>
        </p:txBody>
      </p:sp>
      <p:sp>
        <p:nvSpPr>
          <p:cNvPr id="19" name="Rounded Rectangle 18"/>
          <p:cNvSpPr/>
          <p:nvPr/>
        </p:nvSpPr>
        <p:spPr>
          <a:xfrm>
            <a:off x="8138160" y="1828800"/>
            <a:ext cx="3611880" cy="4297680"/>
          </a:xfrm>
          <a:prstGeom prst="roundRect">
            <a:avLst>
              <a:gd name="adj" fmla="val 60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828800"/>
            <a:ext cx="3611880" cy="54864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1828800"/>
            <a:ext cx="3611880" cy="548640"/>
          </a:xfrm>
          <a:prstGeom prst="rect">
            <a:avLst/>
          </a:prstGeom>
          <a:noFill/>
        </p:spPr>
        <p:txBody>
          <a:bodyPr wrap="square" lIns="0" rIns="0" tIns="0" bIns="0" anchor="ctr">
            <a:spAutoFit/>
          </a:bodyPr>
          <a:lstStyle/>
          <a:p>
            <a:pPr algn="ctr"/>
            <a:r>
              <a:rPr sz="1400" b="1">
                <a:solidFill>
                  <a:srgbClr val="FFFFFF"/>
                </a:solidFill>
                <a:latin typeface="Segoe UI"/>
              </a:rPr>
              <a:t>Later</a:t>
            </a:r>
          </a:p>
        </p:txBody>
      </p:sp>
      <p:sp>
        <p:nvSpPr>
          <p:cNvPr id="22" name="TextBox 21"/>
          <p:cNvSpPr txBox="1"/>
          <p:nvPr/>
        </p:nvSpPr>
        <p:spPr>
          <a:xfrm>
            <a:off x="8412480" y="2606040"/>
            <a:ext cx="3063240" cy="457200"/>
          </a:xfrm>
          <a:prstGeom prst="rect">
            <a:avLst/>
          </a:prstGeom>
          <a:noFill/>
        </p:spPr>
        <p:txBody>
          <a:bodyPr wrap="square" lIns="0" rIns="0" tIns="0" bIns="0" anchor="t">
            <a:spAutoFit/>
          </a:bodyPr>
          <a:lstStyle/>
          <a:p>
            <a:pPr algn="l"/>
            <a:r>
              <a:rPr sz="1400" b="1">
                <a:solidFill>
                  <a:srgbClr val="0B1F3A"/>
                </a:solidFill>
                <a:latin typeface="Segoe UI"/>
              </a:rPr>
              <a:t>Platform</a:t>
            </a:r>
          </a:p>
        </p:txBody>
      </p:sp>
      <p:sp>
        <p:nvSpPr>
          <p:cNvPr id="23" name="TextBox 22"/>
          <p:cNvSpPr txBox="1"/>
          <p:nvPr/>
        </p:nvSpPr>
        <p:spPr>
          <a:xfrm>
            <a:off x="8412480" y="3200400"/>
            <a:ext cx="3063240" cy="2743200"/>
          </a:xfrm>
          <a:prstGeom prst="rect">
            <a:avLst/>
          </a:prstGeom>
          <a:noFill/>
        </p:spPr>
        <p:txBody>
          <a:bodyPr wrap="square" lIns="0" rIns="0" tIns="0" bIns="0">
            <a:spAutoFit/>
          </a:bodyPr>
          <a:lstStyle/>
          <a:p>
            <a:pPr algn="l">
              <a:lnSpc>
                <a:spcPct val="115000"/>
              </a:lnSpc>
              <a:spcAft>
                <a:spcPts val="400"/>
              </a:spcAft>
            </a:pPr>
            <a:r>
              <a:rPr sz="1150" b="1">
                <a:solidFill>
                  <a:srgbClr val="F2A31B"/>
                </a:solidFill>
                <a:latin typeface="Segoe UI"/>
              </a:rPr>
              <a:t>■  </a:t>
            </a:r>
            <a:r>
              <a:rPr sz="1150">
                <a:solidFill>
                  <a:srgbClr val="0B1F3A"/>
                </a:solidFill>
                <a:latin typeface="Segoe UI"/>
              </a:rPr>
              <a:t>Open contract registry (federated)</a:t>
            </a:r>
          </a:p>
          <a:p>
            <a:pPr algn="l">
              <a:lnSpc>
                <a:spcPct val="115000"/>
              </a:lnSpc>
              <a:spcAft>
                <a:spcPts val="400"/>
              </a:spcAft>
            </a:pPr>
            <a:r>
              <a:rPr sz="1150" b="1">
                <a:solidFill>
                  <a:srgbClr val="F2A31B"/>
                </a:solidFill>
                <a:latin typeface="Segoe UI"/>
              </a:rPr>
              <a:t>■  </a:t>
            </a:r>
            <a:r>
              <a:rPr sz="1150">
                <a:solidFill>
                  <a:srgbClr val="0B1F3A"/>
                </a:solidFill>
                <a:latin typeface="Segoe UI"/>
              </a:rPr>
              <a:t>Contract-as-code GitHub action</a:t>
            </a:r>
          </a:p>
          <a:p>
            <a:pPr algn="l">
              <a:lnSpc>
                <a:spcPct val="115000"/>
              </a:lnSpc>
              <a:spcAft>
                <a:spcPts val="400"/>
              </a:spcAft>
            </a:pPr>
            <a:r>
              <a:rPr sz="1150" b="1">
                <a:solidFill>
                  <a:srgbClr val="F2A31B"/>
                </a:solidFill>
                <a:latin typeface="Segoe UI"/>
              </a:rPr>
              <a:t>■  </a:t>
            </a:r>
            <a:r>
              <a:rPr sz="1150">
                <a:solidFill>
                  <a:srgbClr val="0B1F3A"/>
                </a:solidFill>
                <a:latin typeface="Segoe UI"/>
              </a:rPr>
              <a:t>Multi-cloud (Databricks Unity, Snowflake) via ODCS</a:t>
            </a:r>
          </a:p>
          <a:p>
            <a:pPr algn="l">
              <a:lnSpc>
                <a:spcPct val="115000"/>
              </a:lnSpc>
              <a:spcAft>
                <a:spcPts val="400"/>
              </a:spcAft>
            </a:pPr>
            <a:r>
              <a:rPr sz="1150" b="1">
                <a:solidFill>
                  <a:srgbClr val="F2A31B"/>
                </a:solidFill>
                <a:latin typeface="Segoe UI"/>
              </a:rPr>
              <a:t>■  </a:t>
            </a:r>
            <a:r>
              <a:rPr sz="1150">
                <a:solidFill>
                  <a:srgbClr val="0B1F3A"/>
                </a:solidFill>
                <a:latin typeface="Segoe UI"/>
              </a:rPr>
              <a:t>Agentic remediation copilot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640080"/>
            <a:ext cx="73152" cy="457200"/>
          </a:xfrm>
          <a:prstGeom prst="rect">
            <a:avLst/>
          </a:prstGeom>
          <a:solidFill>
            <a:srgbClr val="117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1177D1"/>
                </a:solidFill>
                <a:latin typeface="Segoe UI"/>
              </a:rPr>
              <a:t>FUNDING</a:t>
            </a:r>
          </a:p>
        </p:txBody>
      </p:sp>
      <p:sp>
        <p:nvSpPr>
          <p:cNvPr id="5" name="TextBox 4"/>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0B1F3A"/>
                </a:solidFill>
                <a:latin typeface="Segoe UI"/>
              </a:rPr>
              <a:t>The ask.</a:t>
            </a:r>
          </a:p>
        </p:txBody>
      </p:sp>
      <p:sp>
        <p:nvSpPr>
          <p:cNvPr id="6" name="Rectangle 5"/>
          <p:cNvSpPr/>
          <p:nvPr/>
        </p:nvSpPr>
        <p:spPr>
          <a:xfrm>
            <a:off x="457200" y="6446520"/>
            <a:ext cx="11247120" cy="9525"/>
          </a:xfrm>
          <a:prstGeom prst="rect">
            <a:avLst/>
          </a:prstGeom>
          <a:solidFill>
            <a:srgbClr val="E1E6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10528"/>
            <a:ext cx="7315200" cy="274320"/>
          </a:xfrm>
          <a:prstGeom prst="rect">
            <a:avLst/>
          </a:prstGeom>
          <a:noFill/>
        </p:spPr>
        <p:txBody>
          <a:bodyPr wrap="square" lIns="0" rIns="0" tIns="0" bIns="0" anchor="t">
            <a:spAutoFit/>
          </a:bodyPr>
          <a:lstStyle/>
          <a:p>
            <a:pPr algn="l"/>
            <a:r>
              <a:rPr sz="900" b="0">
                <a:solidFill>
                  <a:srgbClr val="6B7788"/>
                </a:solidFill>
                <a:latin typeface="Segoe UI"/>
              </a:rPr>
              <a:t>Orqentis  |  Investor Deck  |  Confidential</a:t>
            </a:r>
          </a:p>
        </p:txBody>
      </p:sp>
      <p:sp>
        <p:nvSpPr>
          <p:cNvPr id="8" name="TextBox 7"/>
          <p:cNvSpPr txBox="1"/>
          <p:nvPr/>
        </p:nvSpPr>
        <p:spPr>
          <a:xfrm>
            <a:off x="10515600" y="6510528"/>
            <a:ext cx="1188720" cy="274320"/>
          </a:xfrm>
          <a:prstGeom prst="rect">
            <a:avLst/>
          </a:prstGeom>
          <a:noFill/>
        </p:spPr>
        <p:txBody>
          <a:bodyPr wrap="square" lIns="0" rIns="0" tIns="0" bIns="0" anchor="t">
            <a:spAutoFit/>
          </a:bodyPr>
          <a:lstStyle/>
          <a:p>
            <a:pPr algn="r"/>
            <a:r>
              <a:rPr sz="900" b="0">
                <a:solidFill>
                  <a:srgbClr val="6B7788"/>
                </a:solidFill>
                <a:latin typeface="Segoe UI"/>
              </a:rPr>
              <a:t>14 / 14</a:t>
            </a:r>
          </a:p>
        </p:txBody>
      </p:sp>
      <p:sp>
        <p:nvSpPr>
          <p:cNvPr id="9" name="TextBox 8"/>
          <p:cNvSpPr txBox="1"/>
          <p:nvPr/>
        </p:nvSpPr>
        <p:spPr>
          <a:xfrm>
            <a:off x="640080" y="594360"/>
            <a:ext cx="7315200" cy="274320"/>
          </a:xfrm>
          <a:prstGeom prst="rect">
            <a:avLst/>
          </a:prstGeom>
          <a:noFill/>
        </p:spPr>
        <p:txBody>
          <a:bodyPr wrap="square" lIns="0" rIns="0" tIns="0" bIns="0" anchor="t">
            <a:spAutoFit/>
          </a:bodyPr>
          <a:lstStyle/>
          <a:p>
            <a:pPr algn="l"/>
            <a:r>
              <a:rPr sz="1000" b="1">
                <a:solidFill>
                  <a:srgbClr val="6FB1F0"/>
                </a:solidFill>
                <a:latin typeface="Segoe UI"/>
              </a:rPr>
              <a:t>FUNDING</a:t>
            </a:r>
          </a:p>
        </p:txBody>
      </p:sp>
      <p:sp>
        <p:nvSpPr>
          <p:cNvPr id="10" name="TextBox 9"/>
          <p:cNvSpPr txBox="1"/>
          <p:nvPr/>
        </p:nvSpPr>
        <p:spPr>
          <a:xfrm>
            <a:off x="640080" y="841248"/>
            <a:ext cx="10058400" cy="640080"/>
          </a:xfrm>
          <a:prstGeom prst="rect">
            <a:avLst/>
          </a:prstGeom>
          <a:noFill/>
        </p:spPr>
        <p:txBody>
          <a:bodyPr wrap="square" lIns="0" rIns="0" tIns="0" bIns="0" anchor="t">
            <a:spAutoFit/>
          </a:bodyPr>
          <a:lstStyle/>
          <a:p>
            <a:pPr algn="l"/>
            <a:r>
              <a:rPr sz="2800" b="1">
                <a:solidFill>
                  <a:srgbClr val="FFFFFF"/>
                </a:solidFill>
                <a:latin typeface="Segoe UI"/>
              </a:rPr>
              <a:t>The ask.</a:t>
            </a:r>
          </a:p>
        </p:txBody>
      </p:sp>
      <p:sp>
        <p:nvSpPr>
          <p:cNvPr id="11" name="Rounded Rectangle 10"/>
          <p:cNvSpPr/>
          <p:nvPr/>
        </p:nvSpPr>
        <p:spPr>
          <a:xfrm>
            <a:off x="640080" y="1828800"/>
            <a:ext cx="5120640" cy="4023360"/>
          </a:xfrm>
          <a:prstGeom prst="roundRect">
            <a:avLst>
              <a:gd name="adj" fmla="val 6000"/>
            </a:avLst>
          </a:prstGeom>
          <a:solidFill>
            <a:srgbClr val="0F2A4D"/>
          </a:solidFill>
          <a:ln w="9525">
            <a:solidFill>
              <a:srgbClr val="1177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11680"/>
            <a:ext cx="4572000" cy="457200"/>
          </a:xfrm>
          <a:prstGeom prst="rect">
            <a:avLst/>
          </a:prstGeom>
          <a:noFill/>
        </p:spPr>
        <p:txBody>
          <a:bodyPr wrap="square" lIns="0" rIns="0" tIns="0" bIns="0" anchor="t">
            <a:spAutoFit/>
          </a:bodyPr>
          <a:lstStyle/>
          <a:p>
            <a:pPr algn="l"/>
            <a:r>
              <a:rPr sz="1400" b="1">
                <a:solidFill>
                  <a:srgbClr val="1177D1"/>
                </a:solidFill>
                <a:latin typeface="Segoe UI"/>
              </a:rPr>
              <a:t>Seed round</a:t>
            </a:r>
          </a:p>
        </p:txBody>
      </p:sp>
      <p:sp>
        <p:nvSpPr>
          <p:cNvPr id="13" name="TextBox 12"/>
          <p:cNvSpPr txBox="1"/>
          <p:nvPr/>
        </p:nvSpPr>
        <p:spPr>
          <a:xfrm>
            <a:off x="914400" y="2423160"/>
            <a:ext cx="4572000" cy="1005840"/>
          </a:xfrm>
          <a:prstGeom prst="rect">
            <a:avLst/>
          </a:prstGeom>
          <a:noFill/>
        </p:spPr>
        <p:txBody>
          <a:bodyPr wrap="square" lIns="0" rIns="0" tIns="0" bIns="0" anchor="t">
            <a:spAutoFit/>
          </a:bodyPr>
          <a:lstStyle/>
          <a:p>
            <a:pPr algn="l"/>
            <a:r>
              <a:rPr sz="7200" b="1">
                <a:solidFill>
                  <a:srgbClr val="FFFFFF"/>
                </a:solidFill>
                <a:latin typeface="Segoe UI"/>
              </a:rPr>
              <a:t>$4M</a:t>
            </a:r>
          </a:p>
        </p:txBody>
      </p:sp>
      <p:sp>
        <p:nvSpPr>
          <p:cNvPr id="14" name="TextBox 13"/>
          <p:cNvSpPr txBox="1"/>
          <p:nvPr/>
        </p:nvSpPr>
        <p:spPr>
          <a:xfrm>
            <a:off x="914400" y="3703320"/>
            <a:ext cx="4572000" cy="365760"/>
          </a:xfrm>
          <a:prstGeom prst="rect">
            <a:avLst/>
          </a:prstGeom>
          <a:noFill/>
        </p:spPr>
        <p:txBody>
          <a:bodyPr wrap="square" lIns="0" rIns="0" tIns="0" bIns="0" anchor="t">
            <a:spAutoFit/>
          </a:bodyPr>
          <a:lstStyle/>
          <a:p>
            <a:pPr algn="l"/>
            <a:r>
              <a:rPr sz="1300" b="0">
                <a:solidFill>
                  <a:srgbClr val="C6D4E6"/>
                </a:solidFill>
                <a:latin typeface="Segoe UI"/>
              </a:rPr>
              <a:t>18-month runway to Fabric Marketplace GA + 25 paying logos.</a:t>
            </a:r>
          </a:p>
        </p:txBody>
      </p:sp>
      <p:sp>
        <p:nvSpPr>
          <p:cNvPr id="15" name="TextBox 14"/>
          <p:cNvSpPr txBox="1"/>
          <p:nvPr/>
        </p:nvSpPr>
        <p:spPr>
          <a:xfrm>
            <a:off x="914400" y="4160520"/>
            <a:ext cx="4572000" cy="1645920"/>
          </a:xfrm>
          <a:prstGeom prst="rect">
            <a:avLst/>
          </a:prstGeom>
          <a:noFill/>
        </p:spPr>
        <p:txBody>
          <a:bodyPr wrap="square" lIns="0" rIns="0" tIns="0" bIns="0">
            <a:spAutoFit/>
          </a:bodyPr>
          <a:lstStyle/>
          <a:p>
            <a:pPr algn="l">
              <a:lnSpc>
                <a:spcPct val="115000"/>
              </a:lnSpc>
              <a:spcAft>
                <a:spcPts val="400"/>
              </a:spcAft>
            </a:pPr>
            <a:r>
              <a:rPr sz="1150" b="1">
                <a:solidFill>
                  <a:srgbClr val="1177D1"/>
                </a:solidFill>
                <a:latin typeface="Segoe UI"/>
              </a:rPr>
              <a:t>■ </a:t>
            </a:r>
            <a:r>
              <a:rPr sz="1150" b="1">
                <a:solidFill>
                  <a:srgbClr val="FFFFFF"/>
                </a:solidFill>
                <a:latin typeface="Segoe UI"/>
              </a:rPr>
              <a:t>40%  </a:t>
            </a:r>
            <a:r>
              <a:rPr sz="1150">
                <a:solidFill>
                  <a:srgbClr val="FFFFFF"/>
                </a:solidFill>
                <a:latin typeface="Segoe UI"/>
              </a:rPr>
              <a:t>Engineering — close Eventhouse + remediation copilot.</a:t>
            </a:r>
          </a:p>
          <a:p>
            <a:pPr algn="l">
              <a:lnSpc>
                <a:spcPct val="115000"/>
              </a:lnSpc>
              <a:spcAft>
                <a:spcPts val="400"/>
              </a:spcAft>
            </a:pPr>
            <a:r>
              <a:rPr sz="1150" b="1">
                <a:solidFill>
                  <a:srgbClr val="1177D1"/>
                </a:solidFill>
                <a:latin typeface="Segoe UI"/>
              </a:rPr>
              <a:t>■ </a:t>
            </a:r>
            <a:r>
              <a:rPr sz="1150" b="1">
                <a:solidFill>
                  <a:srgbClr val="FFFFFF"/>
                </a:solidFill>
                <a:latin typeface="Segoe UI"/>
              </a:rPr>
              <a:t>30%  </a:t>
            </a:r>
            <a:r>
              <a:rPr sz="1150">
                <a:solidFill>
                  <a:srgbClr val="FFFFFF"/>
                </a:solidFill>
                <a:latin typeface="Segoe UI"/>
              </a:rPr>
              <a:t>Go-to-market — Microsoft co-sell + Marketplace listing.</a:t>
            </a:r>
          </a:p>
          <a:p>
            <a:pPr algn="l">
              <a:lnSpc>
                <a:spcPct val="115000"/>
              </a:lnSpc>
              <a:spcAft>
                <a:spcPts val="400"/>
              </a:spcAft>
            </a:pPr>
            <a:r>
              <a:rPr sz="1150" b="1">
                <a:solidFill>
                  <a:srgbClr val="1177D1"/>
                </a:solidFill>
                <a:latin typeface="Segoe UI"/>
              </a:rPr>
              <a:t>■ </a:t>
            </a:r>
            <a:r>
              <a:rPr sz="1150" b="1">
                <a:solidFill>
                  <a:srgbClr val="FFFFFF"/>
                </a:solidFill>
                <a:latin typeface="Segoe UI"/>
              </a:rPr>
              <a:t>20%  </a:t>
            </a:r>
            <a:r>
              <a:rPr sz="1150">
                <a:solidFill>
                  <a:srgbClr val="FFFFFF"/>
                </a:solidFill>
                <a:latin typeface="Segoe UI"/>
              </a:rPr>
              <a:t>Security &amp; compliance — SOC 2 Type II.</a:t>
            </a:r>
          </a:p>
          <a:p>
            <a:pPr algn="l">
              <a:lnSpc>
                <a:spcPct val="115000"/>
              </a:lnSpc>
              <a:spcAft>
                <a:spcPts val="400"/>
              </a:spcAft>
            </a:pPr>
            <a:r>
              <a:rPr sz="1150" b="1">
                <a:solidFill>
                  <a:srgbClr val="1177D1"/>
                </a:solidFill>
                <a:latin typeface="Segoe UI"/>
              </a:rPr>
              <a:t>■ </a:t>
            </a:r>
            <a:r>
              <a:rPr sz="1150" b="1">
                <a:solidFill>
                  <a:srgbClr val="FFFFFF"/>
                </a:solidFill>
                <a:latin typeface="Segoe UI"/>
              </a:rPr>
              <a:t>10%  </a:t>
            </a:r>
            <a:r>
              <a:rPr sz="1150">
                <a:solidFill>
                  <a:srgbClr val="FFFFFF"/>
                </a:solidFill>
                <a:latin typeface="Segoe UI"/>
              </a:rPr>
              <a:t>Design partnerships with 3 Fortune-100 Fabric tenants.</a:t>
            </a:r>
          </a:p>
        </p:txBody>
      </p:sp>
      <p:sp>
        <p:nvSpPr>
          <p:cNvPr id="16" name="TextBox 15"/>
          <p:cNvSpPr txBox="1"/>
          <p:nvPr/>
        </p:nvSpPr>
        <p:spPr>
          <a:xfrm>
            <a:off x="6400800" y="2011680"/>
            <a:ext cx="5120640" cy="457200"/>
          </a:xfrm>
          <a:prstGeom prst="rect">
            <a:avLst/>
          </a:prstGeom>
          <a:noFill/>
        </p:spPr>
        <p:txBody>
          <a:bodyPr wrap="square" lIns="0" rIns="0" tIns="0" bIns="0" anchor="t">
            <a:spAutoFit/>
          </a:bodyPr>
          <a:lstStyle/>
          <a:p>
            <a:pPr algn="l"/>
            <a:r>
              <a:rPr sz="1100" b="1">
                <a:solidFill>
                  <a:srgbClr val="1177D1"/>
                </a:solidFill>
                <a:latin typeface="Segoe UI"/>
              </a:rPr>
              <a:t>WHY US, WHY NOW</a:t>
            </a:r>
          </a:p>
        </p:txBody>
      </p:sp>
      <p:sp>
        <p:nvSpPr>
          <p:cNvPr id="17" name="TextBox 16"/>
          <p:cNvSpPr txBox="1"/>
          <p:nvPr/>
        </p:nvSpPr>
        <p:spPr>
          <a:xfrm>
            <a:off x="6400800" y="2468880"/>
            <a:ext cx="5212080" cy="2743200"/>
          </a:xfrm>
          <a:prstGeom prst="rect">
            <a:avLst/>
          </a:prstGeom>
          <a:noFill/>
        </p:spPr>
        <p:txBody>
          <a:bodyPr wrap="square" lIns="0" rIns="0" tIns="0" bIns="0">
            <a:spAutoFit/>
          </a:bodyPr>
          <a:lstStyle/>
          <a:p>
            <a:pPr algn="l">
              <a:lnSpc>
                <a:spcPct val="115000"/>
              </a:lnSpc>
              <a:spcAft>
                <a:spcPts val="400"/>
              </a:spcAft>
            </a:pPr>
            <a:r>
              <a:rPr sz="1200" b="1">
                <a:solidFill>
                  <a:srgbClr val="1177D1"/>
                </a:solidFill>
                <a:latin typeface="Segoe UI"/>
              </a:rPr>
              <a:t>■ </a:t>
            </a:r>
            <a:r>
              <a:rPr sz="1200" b="1">
                <a:solidFill>
                  <a:srgbClr val="FFFFFF"/>
                </a:solidFill>
                <a:latin typeface="Segoe UI"/>
              </a:rPr>
              <a:t>First-mover.  </a:t>
            </a:r>
            <a:r>
              <a:rPr sz="1200">
                <a:solidFill>
                  <a:srgbClr val="FFFFFF"/>
                </a:solidFill>
                <a:latin typeface="Segoe UI"/>
              </a:rPr>
              <a:t>The only Fabric-native ODCS enforcer in market.</a:t>
            </a:r>
          </a:p>
          <a:p>
            <a:pPr algn="l">
              <a:lnSpc>
                <a:spcPct val="115000"/>
              </a:lnSpc>
              <a:spcAft>
                <a:spcPts val="400"/>
              </a:spcAft>
            </a:pPr>
            <a:r>
              <a:rPr sz="1200" b="1">
                <a:solidFill>
                  <a:srgbClr val="1177D1"/>
                </a:solidFill>
                <a:latin typeface="Segoe UI"/>
              </a:rPr>
              <a:t>■ </a:t>
            </a:r>
            <a:r>
              <a:rPr sz="1200" b="1">
                <a:solidFill>
                  <a:srgbClr val="FFFFFF"/>
                </a:solidFill>
                <a:latin typeface="Segoe UI"/>
              </a:rPr>
              <a:t>Standards moat.  </a:t>
            </a:r>
            <a:r>
              <a:rPr sz="1200">
                <a:solidFill>
                  <a:srgbClr val="FFFFFF"/>
                </a:solidFill>
                <a:latin typeface="Segoe UI"/>
              </a:rPr>
              <a:t>Bitol/ODCS committer access; we shape the spec.</a:t>
            </a:r>
          </a:p>
          <a:p>
            <a:pPr algn="l">
              <a:lnSpc>
                <a:spcPct val="115000"/>
              </a:lnSpc>
              <a:spcAft>
                <a:spcPts val="400"/>
              </a:spcAft>
            </a:pPr>
            <a:r>
              <a:rPr sz="1200" b="1">
                <a:solidFill>
                  <a:srgbClr val="1177D1"/>
                </a:solidFill>
                <a:latin typeface="Segoe UI"/>
              </a:rPr>
              <a:t>■ </a:t>
            </a:r>
            <a:r>
              <a:rPr sz="1200" b="1">
                <a:solidFill>
                  <a:srgbClr val="FFFFFF"/>
                </a:solidFill>
                <a:latin typeface="Segoe UI"/>
              </a:rPr>
              <a:t>Microsoft alignment.  </a:t>
            </a:r>
            <a:r>
              <a:rPr sz="1200">
                <a:solidFill>
                  <a:srgbClr val="FFFFFF"/>
                </a:solidFill>
                <a:latin typeface="Segoe UI"/>
              </a:rPr>
              <a:t>Built on the Fabric Extensibility Toolkit since day one.</a:t>
            </a:r>
          </a:p>
          <a:p>
            <a:pPr algn="l">
              <a:lnSpc>
                <a:spcPct val="115000"/>
              </a:lnSpc>
              <a:spcAft>
                <a:spcPts val="400"/>
              </a:spcAft>
            </a:pPr>
            <a:r>
              <a:rPr sz="1200" b="1">
                <a:solidFill>
                  <a:srgbClr val="1177D1"/>
                </a:solidFill>
                <a:latin typeface="Segoe UI"/>
              </a:rPr>
              <a:t>■ </a:t>
            </a:r>
            <a:r>
              <a:rPr sz="1200" b="1">
                <a:solidFill>
                  <a:srgbClr val="FFFFFF"/>
                </a:solidFill>
                <a:latin typeface="Segoe UI"/>
              </a:rPr>
              <a:t>Pixel-perfect product.  </a:t>
            </a:r>
            <a:r>
              <a:rPr sz="1200">
                <a:solidFill>
                  <a:srgbClr val="FFFFFF"/>
                </a:solidFill>
                <a:latin typeface="Segoe UI"/>
              </a:rPr>
              <a:t>Live, demoable, principal-designer validated.</a:t>
            </a:r>
          </a:p>
        </p:txBody>
      </p:sp>
      <p:sp>
        <p:nvSpPr>
          <p:cNvPr id="18" name="TextBox 17"/>
          <p:cNvSpPr txBox="1"/>
          <p:nvPr/>
        </p:nvSpPr>
        <p:spPr>
          <a:xfrm>
            <a:off x="6400800" y="5212080"/>
            <a:ext cx="5120640" cy="365760"/>
          </a:xfrm>
          <a:prstGeom prst="rect">
            <a:avLst/>
          </a:prstGeom>
          <a:noFill/>
        </p:spPr>
        <p:txBody>
          <a:bodyPr wrap="square" lIns="0" rIns="0" tIns="0" bIns="0" anchor="t">
            <a:spAutoFit/>
          </a:bodyPr>
          <a:lstStyle/>
          <a:p>
            <a:pPr algn="l"/>
            <a:r>
              <a:rPr sz="1100" b="1">
                <a:solidFill>
                  <a:srgbClr val="1177D1"/>
                </a:solidFill>
                <a:latin typeface="Segoe UI"/>
              </a:rPr>
              <a:t>Contact</a:t>
            </a:r>
          </a:p>
        </p:txBody>
      </p:sp>
      <p:sp>
        <p:nvSpPr>
          <p:cNvPr id="19" name="TextBox 18"/>
          <p:cNvSpPr txBox="1"/>
          <p:nvPr/>
        </p:nvSpPr>
        <p:spPr>
          <a:xfrm>
            <a:off x="6400800" y="5577840"/>
            <a:ext cx="5120640" cy="365760"/>
          </a:xfrm>
          <a:prstGeom prst="rect">
            <a:avLst/>
          </a:prstGeom>
          <a:noFill/>
        </p:spPr>
        <p:txBody>
          <a:bodyPr wrap="square" lIns="0" rIns="0" tIns="0" bIns="0" anchor="t">
            <a:spAutoFit/>
          </a:bodyPr>
          <a:lstStyle/>
          <a:p>
            <a:pPr algn="l"/>
            <a:r>
              <a:rPr sz="1400" b="1">
                <a:solidFill>
                  <a:srgbClr val="FFFFFF"/>
                </a:solidFill>
                <a:latin typeface="Segoe UI"/>
              </a:rPr>
              <a:t>founders@orqentis.io  ·  orqentis.io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